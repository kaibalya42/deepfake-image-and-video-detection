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72" r:id="rId4"/>
  </p:sldMasterIdLst>
  <p:notesMasterIdLst>
    <p:notesMasterId r:id="rId37"/>
  </p:notesMasterIdLst>
  <p:handoutMasterIdLst>
    <p:handoutMasterId r:id="rId38"/>
  </p:handoutMasterIdLst>
  <p:sldIdLst>
    <p:sldId id="262" r:id="rId5"/>
    <p:sldId id="294" r:id="rId6"/>
    <p:sldId id="293" r:id="rId7"/>
    <p:sldId id="298" r:id="rId8"/>
    <p:sldId id="304" r:id="rId9"/>
    <p:sldId id="295" r:id="rId10"/>
    <p:sldId id="303" r:id="rId11"/>
    <p:sldId id="278" r:id="rId12"/>
    <p:sldId id="292" r:id="rId13"/>
    <p:sldId id="296" r:id="rId14"/>
    <p:sldId id="308" r:id="rId15"/>
    <p:sldId id="297" r:id="rId16"/>
    <p:sldId id="310" r:id="rId17"/>
    <p:sldId id="279" r:id="rId18"/>
    <p:sldId id="307" r:id="rId19"/>
    <p:sldId id="280" r:id="rId20"/>
    <p:sldId id="301" r:id="rId21"/>
    <p:sldId id="281" r:id="rId22"/>
    <p:sldId id="282" r:id="rId23"/>
    <p:sldId id="283" r:id="rId24"/>
    <p:sldId id="309" r:id="rId25"/>
    <p:sldId id="285" r:id="rId26"/>
    <p:sldId id="302" r:id="rId27"/>
    <p:sldId id="299" r:id="rId28"/>
    <p:sldId id="306" r:id="rId29"/>
    <p:sldId id="287" r:id="rId30"/>
    <p:sldId id="288" r:id="rId31"/>
    <p:sldId id="305" r:id="rId32"/>
    <p:sldId id="276" r:id="rId33"/>
    <p:sldId id="311" r:id="rId34"/>
    <p:sldId id="266" r:id="rId35"/>
    <p:sldId id="260" r:id="rId3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ECBF2E-C018-D999-FED9-20B6CC25507A}" v="9" dt="2026-05-29T06:01:53.668"/>
    <p1510:client id="{4FDD6620-E454-4242-AC2A-94E77EDEB94C}" v="469" dt="2026-05-30T08:36:24.961"/>
    <p1510:client id="{B0F94534-B79A-44CE-8BF3-FEC29FDE3C80}" v="72" dt="2026-05-30T07:20:52.949"/>
    <p1510:client id="{D5B60871-94BF-4C9A-8C5C-94B4852BF3C4}" v="660" dt="2026-05-29T06:21:41.46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101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presProps" Target="pres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microsoft.com/office/2015/10/relationships/revisionInfo" Target="revisionInfo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F81CEA5-62FD-4C83-BDE3-91DFB9827D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A1CBFD-6AD0-48C4-B91B-58830F6F4C3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869721-F543-4A6C-BF9D-65D7CC540427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E55D22-46A3-4B8C-AD40-252FE7896C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70DCEF-9071-4B17-801B-37B4465C8E1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90168E-626C-4E60-93C0-A00D256094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3477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32326A-4C88-4AFB-AA5B-5919D81DFF5B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B3AB32-59DF-41F1-9618-EDFBF50496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805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7141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71636" y="3124939"/>
            <a:ext cx="11893115" cy="35914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4958" y="322753"/>
            <a:ext cx="11785407" cy="1475013"/>
          </a:xfrm>
          <a:effectLst/>
        </p:spPr>
        <p:txBody>
          <a:bodyPr anchor="b">
            <a:normAutofit/>
          </a:bodyPr>
          <a:lstStyle>
            <a:lvl1pPr>
              <a:defRPr sz="3600" b="1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4957" y="1927274"/>
            <a:ext cx="11785407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6355638"/>
            <a:ext cx="2844800" cy="365125"/>
          </a:xfrm>
        </p:spPr>
        <p:txBody>
          <a:bodyPr/>
          <a:lstStyle>
            <a:lvl1pPr>
              <a:defRPr>
                <a:solidFill>
                  <a:schemeClr val="accent3">
                    <a:lumMod val="40000"/>
                    <a:lumOff val="60000"/>
                  </a:schemeClr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defRPr>
            </a:lvl1pPr>
          </a:lstStyle>
          <a:p>
            <a:fld id="{8C80F668-628C-40EB-9536-8D52901D0B04}" type="datetime1">
              <a:rPr lang="en-US" smtClean="0"/>
              <a:pPr/>
              <a:t>5/31/2026</a:t>
            </a:fld>
            <a:endParaRPr lang="en-US"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4958" y="6351312"/>
            <a:ext cx="6917210" cy="365125"/>
          </a:xfrm>
        </p:spPr>
        <p:txBody>
          <a:bodyPr/>
          <a:lstStyle>
            <a:lvl1pPr>
              <a:defRPr>
                <a:solidFill>
                  <a:schemeClr val="accent3">
                    <a:lumMod val="40000"/>
                    <a:lumOff val="60000"/>
                  </a:schemeClr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defRPr>
            </a:lvl1pPr>
          </a:lstStyle>
          <a:p>
            <a:r>
              <a:rPr lang="en-US"/>
              <a:t>URP 4301 - Final Year Research Project</a:t>
            </a:r>
            <a:endParaRPr lang="en-US"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03924" y="6328457"/>
            <a:ext cx="1016440" cy="365125"/>
          </a:xfrm>
        </p:spPr>
        <p:txBody>
          <a:bodyPr/>
          <a:lstStyle>
            <a:lvl1pPr>
              <a:defRPr>
                <a:solidFill>
                  <a:schemeClr val="accent3">
                    <a:lumMod val="40000"/>
                    <a:lumOff val="60000"/>
                  </a:schemeClr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301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330" y="303478"/>
            <a:ext cx="11745157" cy="824807"/>
          </a:xfrm>
          <a:solidFill>
            <a:schemeClr val="accent1">
              <a:lumMod val="75000"/>
            </a:schemeClr>
          </a:solidFill>
        </p:spPr>
        <p:txBody>
          <a:bodyPr anchor="ctr">
            <a:normAutofit/>
          </a:bodyPr>
          <a:lstStyle>
            <a:lvl1pPr>
              <a:defRPr sz="4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330" y="1207363"/>
            <a:ext cx="11745157" cy="5051394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92425" y="6342272"/>
            <a:ext cx="2844799" cy="365125"/>
          </a:xfrm>
        </p:spPr>
        <p:txBody>
          <a:bodyPr/>
          <a:lstStyle>
            <a:lvl1pPr>
              <a:defRPr sz="1600"/>
            </a:lvl1pPr>
          </a:lstStyle>
          <a:p>
            <a:fld id="{8B7A60F6-7DB0-467E-96ED-BD436AB6B60E}" type="datetime1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6330" y="6342273"/>
            <a:ext cx="6917210" cy="365125"/>
          </a:xfrm>
        </p:spPr>
        <p:txBody>
          <a:bodyPr/>
          <a:lstStyle>
            <a:lvl1pPr>
              <a:defRPr sz="1600"/>
            </a:lvl1pPr>
          </a:lstStyle>
          <a:p>
            <a:r>
              <a:rPr lang="en-US" sz="1600"/>
              <a:t>URP 4301 - Final Year Research Project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8979" y="6342273"/>
            <a:ext cx="1052508" cy="365125"/>
          </a:xfrm>
        </p:spPr>
        <p:txBody>
          <a:bodyPr/>
          <a:lstStyle>
            <a:lvl1pPr>
              <a:defRPr sz="1800" b="1"/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273998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5330A00-4D6D-4666-8024-9CC4B7656470}" type="datetime1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URP 4301 - Final Year Research Project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29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8FE34-9C1B-42B3-AFFC-C57142FDD729}" type="datetime1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URP 4301 - Final Year Research Project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167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E92AC-6081-451A-BB6B-DE5E9261DC37}" type="datetime1">
              <a:rPr lang="en-US" smtClean="0"/>
              <a:t>5/31/2026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URP 4301 - Final Year Research Project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57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99619-D26D-4339-9147-15BEC124CEB4}" type="datetime1">
              <a:rPr lang="en-US" smtClean="0"/>
              <a:t>5/31/2026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URP 4301 - Final Year Research Project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6431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5A5C8-C94B-404F-97A9-2BA63B5753B7}" type="datetime1">
              <a:rPr lang="en-US" smtClean="0"/>
              <a:t>5/31/2026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URP 4301 - Final Year Research Project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69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4853823-82B9-4909-B58C-853ED976418E}" type="datetime1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URP 4301 - Final Year Research Project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29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32AE9-A8AF-485D-9C96-2ACB26E4EC88}" type="datetime1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URP 4301 - Final Year Research Project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80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87B64-D4EF-4538-96AE-CC789476F79B}" type="datetime1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URP 4301 - Final Year Research Project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70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24514670-EBD3-411A-B79C-6891C7767DAD}" type="datetime1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r>
              <a:rPr lang="en-US"/>
              <a:t>URP 4301 - Final Year Research Project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526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7855" y="366445"/>
            <a:ext cx="11742822" cy="87642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854" y="1332331"/>
            <a:ext cx="11742822" cy="486428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24211" y="6311246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accent2"/>
                </a:solidFill>
              </a:defRPr>
            </a:lvl1pPr>
          </a:lstStyle>
          <a:p>
            <a:fld id="{8A91E1F4-4A4B-491F-B08E-9349A12331AB}" type="datetime1">
              <a:rPr lang="en-US" smtClean="0"/>
              <a:t>5/31/2026</a:t>
            </a:fld>
            <a:endParaRPr lang="en-US" b="1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1598" y="6321262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 cap="all">
                <a:solidFill>
                  <a:schemeClr val="accent2"/>
                </a:solidFill>
              </a:defRPr>
            </a:lvl1pPr>
          </a:lstStyle>
          <a:p>
            <a:r>
              <a:rPr lang="en-US" b="1"/>
              <a:t>URP 4301 - Final Year Research Project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4798" y="6321262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b="1"/>
          </a:p>
        </p:txBody>
      </p:sp>
      <p:sp>
        <p:nvSpPr>
          <p:cNvPr id="9" name="Rectangle 8"/>
          <p:cNvSpPr/>
          <p:nvPr/>
        </p:nvSpPr>
        <p:spPr>
          <a:xfrm>
            <a:off x="277854" y="181991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8317356" y="178434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4297605" y="181991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85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Ebrima" panose="02000000000000000000" pitchFamily="2" charset="0"/>
          <a:ea typeface="Ebrima" panose="02000000000000000000" pitchFamily="2" charset="0"/>
          <a:cs typeface="Ebrima" panose="02000000000000000000" pitchFamily="2" charset="0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85000"/>
        </a:lnSpc>
        <a:spcBef>
          <a:spcPts val="0"/>
        </a:spcBef>
        <a:spcAft>
          <a:spcPts val="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3200" kern="1200">
          <a:solidFill>
            <a:schemeClr val="tx2"/>
          </a:solidFill>
          <a:latin typeface="Calisto MT" panose="02040603050505030304" pitchFamily="18" charset="0"/>
          <a:ea typeface="+mn-ea"/>
          <a:cs typeface="+mn-cs"/>
        </a:defRPr>
      </a:lvl1pPr>
      <a:lvl2pPr marL="630000" indent="-306000" algn="l" defTabSz="457200" rtl="0" eaLnBrk="1" latinLnBrk="0" hangingPunct="1">
        <a:lnSpc>
          <a:spcPct val="85000"/>
        </a:lnSpc>
        <a:spcBef>
          <a:spcPts val="0"/>
        </a:spcBef>
        <a:spcAft>
          <a:spcPts val="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2800" kern="1200">
          <a:solidFill>
            <a:schemeClr val="accent3">
              <a:lumMod val="50000"/>
            </a:schemeClr>
          </a:solidFill>
          <a:latin typeface="Calisto MT" panose="02040603050505030304" pitchFamily="18" charset="0"/>
          <a:ea typeface="+mn-ea"/>
          <a:cs typeface="+mn-cs"/>
        </a:defRPr>
      </a:lvl2pPr>
      <a:lvl3pPr marL="900000" indent="-270000" algn="l" defTabSz="457200" rtl="0" eaLnBrk="1" latinLnBrk="0" hangingPunct="1">
        <a:lnSpc>
          <a:spcPct val="85000"/>
        </a:lnSpc>
        <a:spcBef>
          <a:spcPts val="0"/>
        </a:spcBef>
        <a:spcAft>
          <a:spcPts val="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2400" kern="1200">
          <a:solidFill>
            <a:schemeClr val="tx2"/>
          </a:solidFill>
          <a:latin typeface="Calisto MT" panose="02040603050505030304" pitchFamily="18" charset="0"/>
          <a:ea typeface="+mn-ea"/>
          <a:cs typeface="+mn-cs"/>
        </a:defRPr>
      </a:lvl3pPr>
      <a:lvl4pPr marL="1242000" indent="-234000" algn="l" defTabSz="457200" rtl="0" eaLnBrk="1" latinLnBrk="0" hangingPunct="1">
        <a:lnSpc>
          <a:spcPct val="85000"/>
        </a:lnSpc>
        <a:spcBef>
          <a:spcPts val="0"/>
        </a:spcBef>
        <a:spcAft>
          <a:spcPts val="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2000" kern="1200">
          <a:solidFill>
            <a:schemeClr val="accent3">
              <a:lumMod val="50000"/>
            </a:schemeClr>
          </a:solidFill>
          <a:latin typeface="Calisto MT" panose="02040603050505030304" pitchFamily="18" charset="0"/>
          <a:ea typeface="+mn-ea"/>
          <a:cs typeface="+mn-cs"/>
        </a:defRPr>
      </a:lvl4pPr>
      <a:lvl5pPr marL="1602000" indent="-234000" algn="l" defTabSz="457200" rtl="0" eaLnBrk="1" latinLnBrk="0" hangingPunct="1">
        <a:lnSpc>
          <a:spcPct val="85000"/>
        </a:lnSpc>
        <a:spcBef>
          <a:spcPts val="0"/>
        </a:spcBef>
        <a:spcAft>
          <a:spcPts val="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2000" kern="1200">
          <a:solidFill>
            <a:schemeClr val="tx2"/>
          </a:solidFill>
          <a:latin typeface="Calisto MT" panose="02040603050505030304" pitchFamily="18" charset="0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32C0F-4E1C-9A9F-9407-989C8DBE52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1651" y="582982"/>
            <a:ext cx="11774598" cy="504825"/>
          </a:xfrm>
        </p:spPr>
        <p:txBody>
          <a:bodyPr>
            <a:noAutofit/>
          </a:bodyPr>
          <a:lstStyle/>
          <a:p>
            <a:pPr algn="ctr" fontAlgn="base"/>
            <a:r>
              <a:rPr lang="en-US" sz="4000" b="1" cap="none">
                <a:latin typeface="Calisto MT" panose="02040603050505030304" pitchFamily="18" charset="0"/>
              </a:rPr>
              <a:t>URP 4301 – Final Year Research Project</a:t>
            </a:r>
            <a:endParaRPr lang="en-IN" sz="6600" b="1" cap="none">
              <a:latin typeface="Calisto MT" panose="0204060305050503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8B2A4D-0C9C-1868-4DAC-005A87B547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51787" y="3230394"/>
            <a:ext cx="4945340" cy="1998993"/>
          </a:xfrm>
        </p:spPr>
        <p:txBody>
          <a:bodyPr>
            <a:normAutofit fontScale="92500" lnSpcReduction="10000"/>
          </a:bodyPr>
          <a:lstStyle/>
          <a:p>
            <a:r>
              <a:rPr lang="en-IN" sz="2800" i="1" cap="none">
                <a:solidFill>
                  <a:schemeClr val="accent3">
                    <a:lumMod val="40000"/>
                    <a:lumOff val="60000"/>
                  </a:schemeClr>
                </a:solidFill>
                <a:latin typeface="Calisto MT" panose="02040603050505030304" pitchFamily="18" charset="0"/>
                <a:ea typeface="Cambria" panose="02040503050406030204" pitchFamily="18" charset="0"/>
              </a:rPr>
              <a:t>Presented By</a:t>
            </a:r>
            <a:endParaRPr lang="en-IN" sz="2800" i="1">
              <a:solidFill>
                <a:schemeClr val="accent3">
                  <a:lumMod val="40000"/>
                  <a:lumOff val="60000"/>
                </a:schemeClr>
              </a:solidFill>
              <a:ea typeface="Cambria" panose="02040503050406030204" pitchFamily="18" charset="0"/>
            </a:endParaRPr>
          </a:p>
          <a:p>
            <a:endParaRPr lang="en-IN" sz="2800" i="1" cap="none">
              <a:solidFill>
                <a:schemeClr val="accent3">
                  <a:lumMod val="40000"/>
                  <a:lumOff val="60000"/>
                </a:schemeClr>
              </a:solidFill>
              <a:latin typeface="Calisto MT"/>
              <a:ea typeface="Cambria"/>
              <a:cs typeface="Calibri"/>
            </a:endParaRPr>
          </a:p>
          <a:p>
            <a:r>
              <a:rPr lang="en-IN" sz="1800">
                <a:solidFill>
                  <a:schemeClr val="accent3">
                    <a:lumMod val="40000"/>
                    <a:lumOff val="60000"/>
                  </a:schemeClr>
                </a:solidFill>
                <a:latin typeface="Calisto MT"/>
                <a:ea typeface="Cambria"/>
                <a:cs typeface="Calibri"/>
              </a:rPr>
              <a:t>Kaibalya prasad </a:t>
            </a:r>
            <a:r>
              <a:rPr lang="en-IN" sz="1800" err="1">
                <a:solidFill>
                  <a:schemeClr val="accent3">
                    <a:lumMod val="40000"/>
                    <a:lumOff val="60000"/>
                  </a:schemeClr>
                </a:solidFill>
                <a:latin typeface="Calisto MT"/>
                <a:ea typeface="Cambria"/>
                <a:cs typeface="Calibri"/>
              </a:rPr>
              <a:t>nayak</a:t>
            </a:r>
            <a:r>
              <a:rPr lang="en-IN" sz="1800">
                <a:solidFill>
                  <a:schemeClr val="accent3">
                    <a:lumMod val="40000"/>
                    <a:lumOff val="60000"/>
                  </a:schemeClr>
                </a:solidFill>
                <a:latin typeface="Calisto MT"/>
                <a:ea typeface="Cambria"/>
                <a:cs typeface="Calibri"/>
              </a:rPr>
              <a:t> (2241014084)</a:t>
            </a:r>
          </a:p>
          <a:p>
            <a:r>
              <a:rPr lang="en-IN" sz="1800">
                <a:solidFill>
                  <a:schemeClr val="accent3">
                    <a:lumMod val="40000"/>
                    <a:lumOff val="60000"/>
                  </a:schemeClr>
                </a:solidFill>
                <a:latin typeface="Calisto MT"/>
                <a:ea typeface="Cambria"/>
                <a:cs typeface="Calibri"/>
              </a:rPr>
              <a:t>Rupali </a:t>
            </a:r>
            <a:r>
              <a:rPr lang="en-IN" sz="1800" err="1">
                <a:solidFill>
                  <a:schemeClr val="accent3">
                    <a:lumMod val="40000"/>
                    <a:lumOff val="60000"/>
                  </a:schemeClr>
                </a:solidFill>
                <a:latin typeface="Calisto MT"/>
                <a:ea typeface="Cambria"/>
                <a:cs typeface="Calibri"/>
              </a:rPr>
              <a:t>bisoyi</a:t>
            </a:r>
            <a:r>
              <a:rPr lang="en-IN" sz="1800">
                <a:solidFill>
                  <a:schemeClr val="accent3">
                    <a:lumMod val="40000"/>
                    <a:lumOff val="60000"/>
                  </a:schemeClr>
                </a:solidFill>
                <a:latin typeface="Calisto MT"/>
                <a:ea typeface="Cambria"/>
                <a:cs typeface="Calibri"/>
              </a:rPr>
              <a:t> (2241002192)</a:t>
            </a:r>
          </a:p>
          <a:p>
            <a:r>
              <a:rPr lang="en-IN" sz="1800">
                <a:solidFill>
                  <a:schemeClr val="accent3">
                    <a:lumMod val="40000"/>
                    <a:lumOff val="60000"/>
                  </a:schemeClr>
                </a:solidFill>
                <a:latin typeface="Calisto MT"/>
                <a:ea typeface="Cambria"/>
                <a:cs typeface="Calibri"/>
              </a:rPr>
              <a:t>Sameera </a:t>
            </a:r>
            <a:r>
              <a:rPr lang="en-IN" sz="1800" err="1">
                <a:solidFill>
                  <a:schemeClr val="accent3">
                    <a:lumMod val="40000"/>
                    <a:lumOff val="60000"/>
                  </a:schemeClr>
                </a:solidFill>
                <a:latin typeface="Calisto MT"/>
                <a:ea typeface="Cambria"/>
                <a:cs typeface="Calibri"/>
              </a:rPr>
              <a:t>kar</a:t>
            </a:r>
            <a:r>
              <a:rPr lang="en-IN" sz="1800">
                <a:solidFill>
                  <a:schemeClr val="accent3">
                    <a:lumMod val="40000"/>
                    <a:lumOff val="60000"/>
                  </a:schemeClr>
                </a:solidFill>
                <a:latin typeface="Calisto MT"/>
                <a:ea typeface="Cambria"/>
                <a:cs typeface="Calibri"/>
              </a:rPr>
              <a:t> (2241011022)</a:t>
            </a:r>
          </a:p>
          <a:p>
            <a:r>
              <a:rPr lang="en-IN" sz="1800" err="1">
                <a:solidFill>
                  <a:schemeClr val="accent3">
                    <a:lumMod val="40000"/>
                    <a:lumOff val="60000"/>
                  </a:schemeClr>
                </a:solidFill>
                <a:latin typeface="Calisto MT"/>
                <a:ea typeface="Cambria"/>
                <a:cs typeface="Calibri"/>
              </a:rPr>
              <a:t>saswat</a:t>
            </a:r>
            <a:r>
              <a:rPr lang="en-IN" sz="1800">
                <a:solidFill>
                  <a:schemeClr val="accent3">
                    <a:lumMod val="40000"/>
                    <a:lumOff val="60000"/>
                  </a:schemeClr>
                </a:solidFill>
                <a:latin typeface="Calisto MT"/>
                <a:ea typeface="Cambria"/>
                <a:cs typeface="Calibri"/>
              </a:rPr>
              <a:t> </a:t>
            </a:r>
            <a:r>
              <a:rPr lang="en-IN" sz="1800" err="1">
                <a:solidFill>
                  <a:schemeClr val="accent3">
                    <a:lumMod val="40000"/>
                    <a:lumOff val="60000"/>
                  </a:schemeClr>
                </a:solidFill>
                <a:latin typeface="Calisto MT"/>
                <a:ea typeface="Cambria"/>
                <a:cs typeface="Calibri"/>
              </a:rPr>
              <a:t>kumar</a:t>
            </a:r>
            <a:r>
              <a:rPr lang="en-IN" sz="1800">
                <a:solidFill>
                  <a:schemeClr val="accent3">
                    <a:lumMod val="40000"/>
                    <a:lumOff val="60000"/>
                  </a:schemeClr>
                </a:solidFill>
                <a:latin typeface="Calisto MT"/>
                <a:ea typeface="Cambria"/>
                <a:cs typeface="Calibri"/>
              </a:rPr>
              <a:t> Nayak (2241014125)</a:t>
            </a:r>
          </a:p>
          <a:p>
            <a:endParaRPr lang="en-IN" sz="1800">
              <a:solidFill>
                <a:schemeClr val="accent3">
                  <a:lumMod val="40000"/>
                  <a:lumOff val="60000"/>
                </a:schemeClr>
              </a:solidFill>
              <a:latin typeface="Calisto MT"/>
              <a:ea typeface="Cambria"/>
            </a:endParaRPr>
          </a:p>
          <a:p>
            <a:r>
              <a:rPr lang="en-IN" sz="2000" b="1">
                <a:solidFill>
                  <a:srgbClr val="00B0F0"/>
                </a:solidFill>
                <a:latin typeface="Calisto MT"/>
                <a:ea typeface="Cambria"/>
              </a:rPr>
              <a:t>Group No- 3208</a:t>
            </a:r>
            <a:endParaRPr lang="en-IN" sz="2000" b="1">
              <a:solidFill>
                <a:srgbClr val="00B0F0"/>
              </a:solidFill>
              <a:ea typeface="Cambria" panose="02040503050406030204" pitchFamily="18" charset="0"/>
            </a:endParaRPr>
          </a:p>
          <a:p>
            <a:pPr algn="ctr"/>
            <a:endParaRPr lang="en-IN" sz="2000">
              <a:solidFill>
                <a:schemeClr val="accent3">
                  <a:lumMod val="40000"/>
                  <a:lumOff val="60000"/>
                </a:schemeClr>
              </a:solidFill>
              <a:latin typeface="Calisto MT" panose="02040603050505030304" pitchFamily="18" charset="0"/>
              <a:ea typeface="Cambria" panose="02040503050406030204" pitchFamily="18" charset="0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9A3A765E-6F86-44A6-0D5F-80C503D4D4CC}"/>
              </a:ext>
            </a:extLst>
          </p:cNvPr>
          <p:cNvSpPr txBox="1">
            <a:spLocks/>
          </p:cNvSpPr>
          <p:nvPr/>
        </p:nvSpPr>
        <p:spPr>
          <a:xfrm>
            <a:off x="398519" y="3241859"/>
            <a:ext cx="4680992" cy="19989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kern="1200" cap="all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800" i="1" cap="none">
                <a:solidFill>
                  <a:schemeClr val="accent3">
                    <a:lumMod val="40000"/>
                    <a:lumOff val="60000"/>
                  </a:schemeClr>
                </a:solidFill>
                <a:latin typeface="Calisto MT" panose="02040603050505030304" pitchFamily="18" charset="0"/>
                <a:ea typeface="Cambria" panose="02040503050406030204" pitchFamily="18" charset="0"/>
              </a:rPr>
              <a:t>Supervised By</a:t>
            </a:r>
            <a:endParaRPr lang="en-US"/>
          </a:p>
          <a:p>
            <a:r>
              <a:rPr lang="en-IN" sz="2200" b="1" cap="none">
                <a:solidFill>
                  <a:srgbClr val="00B0F0"/>
                </a:solidFill>
                <a:latin typeface="Calisto MT"/>
                <a:ea typeface="Cambria"/>
              </a:rPr>
              <a:t>Mr. ABDUL ATIF KHAN</a:t>
            </a:r>
            <a:endParaRPr lang="en-IN" sz="2200" b="1" cap="none">
              <a:solidFill>
                <a:srgbClr val="00B0F0"/>
              </a:solidFill>
              <a:latin typeface="Calisto MT" panose="02040603050505030304" pitchFamily="18" charset="0"/>
              <a:ea typeface="Cambria" panose="02040503050406030204" pitchFamily="18" charset="0"/>
            </a:endParaRPr>
          </a:p>
          <a:p>
            <a:r>
              <a:rPr lang="en-IN" sz="2400" cap="none">
                <a:solidFill>
                  <a:schemeClr val="accent3">
                    <a:lumMod val="40000"/>
                    <a:lumOff val="60000"/>
                  </a:schemeClr>
                </a:solidFill>
                <a:latin typeface="Calisto MT"/>
                <a:ea typeface="Cambria"/>
              </a:rPr>
              <a:t>Assistant</a:t>
            </a:r>
            <a:r>
              <a:rPr lang="en-IN" sz="2400" cap="none" dirty="0">
                <a:solidFill>
                  <a:schemeClr val="accent3">
                    <a:lumMod val="40000"/>
                    <a:lumOff val="60000"/>
                  </a:schemeClr>
                </a:solidFill>
                <a:latin typeface="Calisto MT"/>
                <a:ea typeface="Cambria"/>
              </a:rPr>
              <a:t> Professor</a:t>
            </a:r>
            <a:endParaRPr lang="en-IN" sz="2400" cap="none" dirty="0">
              <a:solidFill>
                <a:schemeClr val="accent3">
                  <a:lumMod val="40000"/>
                  <a:lumOff val="60000"/>
                </a:schemeClr>
              </a:solidFill>
              <a:latin typeface="Calisto MT" panose="02040603050505030304" pitchFamily="18" charset="0"/>
              <a:ea typeface="Cambria" panose="02040503050406030204" pitchFamily="18" charset="0"/>
            </a:endParaRPr>
          </a:p>
          <a:p>
            <a:r>
              <a:rPr lang="en-US" sz="2400" cap="none">
                <a:solidFill>
                  <a:schemeClr val="accent3">
                    <a:lumMod val="40000"/>
                    <a:lumOff val="60000"/>
                  </a:schemeClr>
                </a:solidFill>
                <a:latin typeface="Calisto MT" panose="02040603050505030304" pitchFamily="18" charset="0"/>
                <a:ea typeface="Cambria" panose="02040503050406030204" pitchFamily="18" charset="0"/>
              </a:rPr>
              <a:t>Centre for AI&amp;ML</a:t>
            </a:r>
            <a:endParaRPr lang="en-IN" sz="2400" cap="none">
              <a:solidFill>
                <a:schemeClr val="accent3">
                  <a:lumMod val="40000"/>
                  <a:lumOff val="60000"/>
                </a:schemeClr>
              </a:solidFill>
              <a:latin typeface="Calisto MT" panose="02040603050505030304" pitchFamily="18" charset="0"/>
              <a:ea typeface="Cambria" panose="02040503050406030204" pitchFamily="18" charset="0"/>
            </a:endParaRPr>
          </a:p>
          <a:p>
            <a:pPr algn="ctr"/>
            <a:endParaRPr lang="en-IN" sz="2000">
              <a:solidFill>
                <a:schemeClr val="accent3">
                  <a:lumMod val="40000"/>
                  <a:lumOff val="60000"/>
                </a:schemeClr>
              </a:solidFill>
              <a:latin typeface="Calisto MT" panose="02040603050505030304" pitchFamily="18" charset="0"/>
              <a:ea typeface="Cambria" panose="020405030504060302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D40C8E-7217-853F-BD19-D107C94AA55E}"/>
              </a:ext>
            </a:extLst>
          </p:cNvPr>
          <p:cNvSpPr txBox="1"/>
          <p:nvPr/>
        </p:nvSpPr>
        <p:spPr>
          <a:xfrm>
            <a:off x="141010" y="5210988"/>
            <a:ext cx="11909979" cy="158504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2800">
                <a:solidFill>
                  <a:srgbClr val="00B0F0"/>
                </a:solidFill>
                <a:latin typeface="Calisto MT" panose="02040603050505030304" pitchFamily="18" charset="0"/>
                <a:ea typeface="Cambria" panose="02040503050406030204" pitchFamily="18" charset="0"/>
                <a:cs typeface="Leelawadee" panose="020B0502040204020203"/>
              </a:rPr>
              <a:t>Centre for AI&amp;ML, Department of CSE</a:t>
            </a:r>
          </a:p>
          <a:p>
            <a:pPr algn="ctr"/>
            <a:r>
              <a:rPr lang="en-US" sz="2300">
                <a:solidFill>
                  <a:schemeClr val="accent3">
                    <a:lumMod val="40000"/>
                    <a:lumOff val="60000"/>
                  </a:schemeClr>
                </a:solidFill>
                <a:latin typeface="Calisto MT" panose="02040603050505030304" pitchFamily="18" charset="0"/>
                <a:ea typeface="Cambria" panose="02040503050406030204" pitchFamily="18" charset="0"/>
                <a:cs typeface="Leelawadee" panose="020B0502040204020203"/>
              </a:rPr>
              <a:t>Faculty of Engineering and Technology, Institute of Technical Education &amp; Research (ITER)</a:t>
            </a:r>
          </a:p>
          <a:p>
            <a:pPr algn="ctr"/>
            <a:r>
              <a:rPr lang="en-US" sz="2800" b="1" dirty="0">
                <a:solidFill>
                  <a:srgbClr val="00B0F0"/>
                </a:solidFill>
                <a:latin typeface="Calisto MT"/>
                <a:ea typeface="Cambria"/>
                <a:cs typeface="Leelawadee" panose="020B0502040204020203"/>
              </a:rPr>
              <a:t>Siksha ‘O’ </a:t>
            </a:r>
            <a:r>
              <a:rPr lang="en-US" sz="2800" b="1" dirty="0" err="1">
                <a:solidFill>
                  <a:srgbClr val="00B0F0"/>
                </a:solidFill>
                <a:latin typeface="Calisto MT"/>
                <a:ea typeface="Cambria"/>
                <a:cs typeface="Leelawadee" panose="020B0502040204020203"/>
              </a:rPr>
              <a:t>Anusandhan</a:t>
            </a:r>
            <a:r>
              <a:rPr lang="en-US" sz="2800" b="1" dirty="0">
                <a:solidFill>
                  <a:srgbClr val="00B0F0"/>
                </a:solidFill>
                <a:latin typeface="Calisto MT"/>
                <a:ea typeface="Cambria"/>
                <a:cs typeface="Leelawadee" panose="020B0502040204020203"/>
              </a:rPr>
              <a:t> Deemed to be University, Bhubaneswar</a:t>
            </a:r>
          </a:p>
          <a:p>
            <a:pPr algn="ctr"/>
            <a:r>
              <a:rPr lang="en-US">
                <a:solidFill>
                  <a:schemeClr val="accent3">
                    <a:lumMod val="40000"/>
                    <a:lumOff val="60000"/>
                  </a:schemeClr>
                </a:solidFill>
                <a:latin typeface="Calisto MT"/>
                <a:ea typeface="Cambria"/>
                <a:cs typeface="Leelawadee" panose="020B0502040204020203"/>
              </a:rPr>
              <a:t>May 2026</a:t>
            </a:r>
            <a:endParaRPr lang="en-US" sz="1800">
              <a:solidFill>
                <a:schemeClr val="accent3">
                  <a:lumMod val="40000"/>
                  <a:lumOff val="60000"/>
                </a:schemeClr>
              </a:solidFill>
              <a:latin typeface="Calisto MT"/>
              <a:ea typeface="Cambria"/>
              <a:cs typeface="Leelawadee" panose="020B0502040204020203"/>
            </a:endParaRPr>
          </a:p>
        </p:txBody>
      </p:sp>
      <p:pic>
        <p:nvPicPr>
          <p:cNvPr id="7" name="Picture 2" descr="Odisha Jobs - Vacancy At SOA-University October-2019">
            <a:extLst>
              <a:ext uri="{FF2B5EF4-FFF2-40B4-BE49-F238E27FC236}">
                <a16:creationId xmlns:a16="http://schemas.microsoft.com/office/drawing/2014/main" id="{EACE076D-34D1-1F32-2E9F-166EFDD4B2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7221" y="3235094"/>
            <a:ext cx="1797558" cy="1794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EB950A6-E326-C9D3-FE8F-34E8FE512476}"/>
              </a:ext>
            </a:extLst>
          </p:cNvPr>
          <p:cNvSpPr txBox="1"/>
          <p:nvPr/>
        </p:nvSpPr>
        <p:spPr>
          <a:xfrm>
            <a:off x="401651" y="1261214"/>
            <a:ext cx="11774598" cy="120032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  <a:latin typeface="Arial Narrow"/>
                <a:ea typeface="Ebrima"/>
                <a:cs typeface="Ebrima"/>
              </a:rPr>
              <a:t>End-Term Presentation on</a:t>
            </a:r>
            <a:br>
              <a:rPr lang="en-US" sz="6000" b="1" dirty="0">
                <a:latin typeface="Ebrima"/>
                <a:ea typeface="Ebrima"/>
                <a:cs typeface="Ebrima"/>
              </a:rPr>
            </a:br>
            <a:r>
              <a:rPr lang="en-US" sz="4400" b="1" dirty="0">
                <a:solidFill>
                  <a:srgbClr val="002060"/>
                </a:solidFill>
                <a:latin typeface="Calisto MT"/>
                <a:ea typeface="Ebrima"/>
                <a:cs typeface="Ebrima"/>
              </a:rPr>
              <a:t>Deepfake Detection Using Deep </a:t>
            </a:r>
            <a:r>
              <a:rPr lang="en-US" sz="4400" b="1">
                <a:solidFill>
                  <a:srgbClr val="002060"/>
                </a:solidFill>
                <a:latin typeface="Calisto MT"/>
                <a:ea typeface="Ebrima"/>
                <a:cs typeface="Ebrima"/>
              </a:rPr>
              <a:t>Learning </a:t>
            </a:r>
            <a:endParaRPr lang="en-US" sz="4400" b="1" dirty="0">
              <a:solidFill>
                <a:srgbClr val="002060"/>
              </a:solidFill>
              <a:latin typeface="Calisto MT"/>
              <a:ea typeface="Ebrima"/>
              <a:cs typeface="Ebrima"/>
            </a:endParaRPr>
          </a:p>
        </p:txBody>
      </p:sp>
    </p:spTree>
    <p:extLst>
      <p:ext uri="{BB962C8B-B14F-4D97-AF65-F5344CB8AC3E}">
        <p14:creationId xmlns:p14="http://schemas.microsoft.com/office/powerpoint/2010/main" val="336328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2FE1C3-3430-5E33-DCE1-2E47369338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/>
          </a:bodyPr>
          <a:lstStyle/>
          <a:p>
            <a:pPr marL="305435" indent="-305435"/>
            <a:r>
              <a:rPr lang="en-IN" sz="3000"/>
              <a:t>Introduction</a:t>
            </a:r>
            <a:endParaRPr lang="en-US"/>
          </a:p>
          <a:p>
            <a:pPr marL="305435" indent="-305435"/>
            <a:r>
              <a:rPr lang="en-IN" sz="3000"/>
              <a:t>Problem Statement</a:t>
            </a:r>
          </a:p>
          <a:p>
            <a:pPr marL="305435" indent="-305435"/>
            <a:r>
              <a:rPr lang="en-IN" sz="3000">
                <a:latin typeface="Calisto MT"/>
              </a:rPr>
              <a:t>Motivations</a:t>
            </a:r>
            <a:endParaRPr lang="en-IN" sz="3000"/>
          </a:p>
          <a:p>
            <a:pPr marL="305435" indent="-305435"/>
            <a:r>
              <a:rPr lang="en-IN" sz="3000">
                <a:latin typeface="Calisto MT"/>
              </a:rPr>
              <a:t>Project Objectives</a:t>
            </a:r>
            <a:endParaRPr lang="en-IN" sz="3000"/>
          </a:p>
          <a:p>
            <a:pPr marL="305435" indent="-305435"/>
            <a:r>
              <a:rPr lang="en-IN" sz="3000">
                <a:latin typeface="Calisto MT"/>
              </a:rPr>
              <a:t>Literature Review</a:t>
            </a:r>
            <a:endParaRPr lang="en-IN" sz="3000"/>
          </a:p>
          <a:p>
            <a:pPr marL="305435" indent="-305435"/>
            <a:r>
              <a:rPr lang="en-IN" sz="3000">
                <a:latin typeface="Calisto MT"/>
              </a:rPr>
              <a:t>Research Gaps and Improvements</a:t>
            </a:r>
            <a:endParaRPr lang="en-IN" sz="3000"/>
          </a:p>
          <a:p>
            <a:pPr marL="305435" indent="-305435"/>
            <a:r>
              <a:rPr lang="en-IN" sz="3000">
                <a:latin typeface="Calisto MT"/>
              </a:rPr>
              <a:t>Proposed Solution and Architecture</a:t>
            </a:r>
            <a:endParaRPr lang="en-IN" sz="3000"/>
          </a:p>
          <a:p>
            <a:pPr marL="305435" indent="-305435"/>
            <a:r>
              <a:rPr lang="en-IN" sz="3000">
                <a:latin typeface="Calisto MT"/>
              </a:rPr>
              <a:t>Data Description </a:t>
            </a:r>
          </a:p>
          <a:p>
            <a:endParaRPr lang="en-IN" sz="3000"/>
          </a:p>
          <a:p>
            <a:endParaRPr lang="en-IN" sz="3000"/>
          </a:p>
          <a:p>
            <a:endParaRPr lang="en-IN" sz="3000"/>
          </a:p>
          <a:p>
            <a:pPr marL="305435" indent="-305435"/>
            <a:r>
              <a:rPr lang="en-IN" sz="3000">
                <a:latin typeface="Calisto MT"/>
              </a:rPr>
              <a:t>Data Preprocessing </a:t>
            </a:r>
            <a:endParaRPr lang="en-IN" sz="3000"/>
          </a:p>
          <a:p>
            <a:pPr marL="305435" indent="-305435"/>
            <a:r>
              <a:rPr lang="en-IN" sz="3000">
                <a:latin typeface="Calisto MT"/>
              </a:rPr>
              <a:t>Exploratory Data Analysis</a:t>
            </a:r>
          </a:p>
          <a:p>
            <a:pPr marL="305435" indent="-305435"/>
            <a:r>
              <a:rPr lang="en-IN" sz="3000">
                <a:latin typeface="Calisto MT"/>
              </a:rPr>
              <a:t>Model Selection</a:t>
            </a:r>
            <a:endParaRPr lang="en-IN" sz="3000"/>
          </a:p>
          <a:p>
            <a:pPr marL="305435" indent="-305435"/>
            <a:r>
              <a:rPr lang="en-IN" sz="3000">
                <a:latin typeface="Calisto MT"/>
              </a:rPr>
              <a:t>Model Architecture</a:t>
            </a:r>
            <a:endParaRPr lang="en-IN" sz="3000"/>
          </a:p>
          <a:p>
            <a:pPr marL="305435" indent="-305435"/>
            <a:r>
              <a:rPr lang="en-IN" sz="3000">
                <a:latin typeface="Calisto MT"/>
              </a:rPr>
              <a:t>Software and Platform Information</a:t>
            </a:r>
            <a:endParaRPr lang="en-IN" sz="3000"/>
          </a:p>
          <a:p>
            <a:pPr marL="305435" indent="-305435"/>
            <a:r>
              <a:rPr lang="en-IN" sz="3000">
                <a:latin typeface="Calisto MT"/>
              </a:rPr>
              <a:t>Results</a:t>
            </a:r>
            <a:endParaRPr lang="en-IN" sz="3000"/>
          </a:p>
          <a:p>
            <a:pPr marL="305435" indent="-305435"/>
            <a:r>
              <a:rPr lang="en-IN" sz="3000">
                <a:latin typeface="Calisto MT"/>
              </a:rPr>
              <a:t>Discussion</a:t>
            </a:r>
          </a:p>
          <a:p>
            <a:pPr marL="305435" indent="-305435"/>
            <a:r>
              <a:rPr lang="en-IN" sz="3000"/>
              <a:t>References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73FA32-E44F-B479-00E1-C15B76F39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A60F6-7DB0-467E-96ED-BD436AB6B60E}" type="datetime1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18E787-5299-8306-C96E-C585F5F2E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/>
              <a:t>URP 4301 - Final Year Research Project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B9DA29-04D9-7CF2-4FAD-499D436FB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b="1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177A6123-9803-3D5F-5484-DA1FC7884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Contents</a:t>
            </a:r>
          </a:p>
        </p:txBody>
      </p:sp>
    </p:spTree>
    <p:extLst>
      <p:ext uri="{BB962C8B-B14F-4D97-AF65-F5344CB8AC3E}">
        <p14:creationId xmlns:p14="http://schemas.microsoft.com/office/powerpoint/2010/main" val="41369821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987B5-ACB2-1255-A069-F09DEE094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introduction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EA41B44-974A-8B0B-EAA3-C729A25E5D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330" y="1290870"/>
            <a:ext cx="11745157" cy="5051394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305435" indent="-305435">
              <a:buFont typeface="Wingdings" panose="05020102010507070707" pitchFamily="18" charset="2"/>
              <a:buChar char="q"/>
            </a:pPr>
            <a:endParaRPr lang="en-IN" sz="2400">
              <a:latin typeface="Calisto MT"/>
            </a:endParaRPr>
          </a:p>
          <a:p>
            <a:pPr marL="305435" indent="-305435">
              <a:buFont typeface="Wingdings" panose="05020102010507070707" pitchFamily="18" charset="2"/>
              <a:buChar char="q"/>
            </a:pPr>
            <a:r>
              <a:rPr lang="en-IN" sz="2400">
                <a:latin typeface="Calisto MT"/>
              </a:rPr>
              <a:t>Deepfake technology uses AI to generate or manipulate facial images and videos, making fabricated content appear highly realistic.</a:t>
            </a:r>
            <a:endParaRPr lang="en-IN" sz="2400"/>
          </a:p>
          <a:p>
            <a:pPr marL="0" indent="0">
              <a:buNone/>
            </a:pPr>
            <a:endParaRPr lang="en-IN" sz="2400">
              <a:latin typeface="Calisto MT"/>
            </a:endParaRPr>
          </a:p>
          <a:p>
            <a:pPr marL="305435" indent="-305435">
              <a:buFont typeface="Wingdings" panose="05020102010507070707" pitchFamily="18" charset="2"/>
              <a:buChar char="q"/>
            </a:pPr>
            <a:r>
              <a:rPr lang="en-IN" sz="2400">
                <a:latin typeface="Calisto MT"/>
              </a:rPr>
              <a:t>The rapid advancement of Generative Adversarial Networks (GANs) has made deepfakes increasingly difficult to detect with the human eye.</a:t>
            </a:r>
          </a:p>
          <a:p>
            <a:pPr marL="305435" indent="-305435">
              <a:buFont typeface="Wingdings" panose="05020102010507070707" pitchFamily="18" charset="2"/>
              <a:buChar char="q"/>
            </a:pPr>
            <a:endParaRPr lang="en-IN" sz="2400">
              <a:latin typeface="Calisto MT"/>
            </a:endParaRPr>
          </a:p>
          <a:p>
            <a:pPr marL="305435" indent="-305435">
              <a:buFont typeface="Wingdings" panose="05020102010507070707" pitchFamily="18" charset="2"/>
              <a:buChar char="q"/>
            </a:pPr>
            <a:r>
              <a:rPr lang="en-IN" sz="2400">
                <a:latin typeface="Calisto MT"/>
              </a:rPr>
              <a:t>Deepfakes pose serious threat to misinformation, identity fraud, political manipulation, and digital media integrity.</a:t>
            </a:r>
          </a:p>
          <a:p>
            <a:pPr marL="305435" indent="-305435">
              <a:buFont typeface="Wingdings" panose="05020102010507070707" pitchFamily="18" charset="2"/>
              <a:buChar char="q"/>
            </a:pPr>
            <a:endParaRPr lang="en-IN" sz="2400">
              <a:latin typeface="Calisto MT"/>
            </a:endParaRPr>
          </a:p>
          <a:p>
            <a:pPr marL="305435" indent="-305435">
              <a:buFont typeface="Wingdings" panose="05020102010507070707" pitchFamily="18" charset="2"/>
              <a:buChar char="q"/>
            </a:pPr>
            <a:r>
              <a:rPr lang="en-IN" sz="2400">
                <a:latin typeface="Calisto MT"/>
              </a:rPr>
              <a:t>Existing detection methods often fail to generalize across different deepfake generation techniques and datasets.</a:t>
            </a:r>
          </a:p>
          <a:p>
            <a:pPr marL="305435" indent="-305435">
              <a:buFont typeface="Wingdings" panose="05020102010507070707" pitchFamily="18" charset="2"/>
              <a:buChar char="q"/>
            </a:pPr>
            <a:endParaRPr lang="en-IN" sz="2400">
              <a:latin typeface="Calisto MT"/>
            </a:endParaRPr>
          </a:p>
          <a:p>
            <a:pPr marL="305435" indent="-305435">
              <a:buFont typeface="Wingdings" panose="05020102010507070707" pitchFamily="18" charset="2"/>
              <a:buChar char="q"/>
            </a:pPr>
            <a:r>
              <a:rPr lang="en-IN" sz="2400">
                <a:latin typeface="Calisto MT"/>
              </a:rPr>
              <a:t>This project proposes a deep learning pipeline combining </a:t>
            </a:r>
            <a:r>
              <a:rPr lang="en-IN" sz="2400" err="1">
                <a:latin typeface="Calisto MT"/>
              </a:rPr>
              <a:t>EfficientNet</a:t>
            </a:r>
            <a:r>
              <a:rPr lang="en-IN" sz="2400">
                <a:latin typeface="Calisto MT"/>
              </a:rPr>
              <a:t> – B0 (CNN Baseline) and a CNN – Transformer Hybrid model to accurately detect deepfake faces </a:t>
            </a:r>
            <a:endParaRPr lang="en-IN" sz="24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C65DCF-ACEA-6F4F-A7B0-41C6753FA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A60F6-7DB0-467E-96ED-BD436AB6B60E}" type="datetime1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866D75-0E7E-92E0-5E4C-77E345558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/>
              <a:t>URP 4301 - Final Year Research Project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207FD6-2B04-D455-317B-0C86EA9B4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34612610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46289-31F7-3FEF-499C-1D8599197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676935-28C7-351D-1C98-F3532DB375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330" y="1228240"/>
            <a:ext cx="11745157" cy="4633859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305435" indent="-305435">
              <a:buFont typeface="Wingdings" panose="05020102010507070707" pitchFamily="18" charset="2"/>
              <a:buChar char="q"/>
            </a:pPr>
            <a:endParaRPr lang="en-IN" sz="2600">
              <a:latin typeface="Calisto MT"/>
            </a:endParaRPr>
          </a:p>
          <a:p>
            <a:pPr marL="305435" indent="-305435">
              <a:buFont typeface="Wingdings" panose="05020102010507070707" pitchFamily="18" charset="2"/>
              <a:buChar char="q"/>
            </a:pPr>
            <a:r>
              <a:rPr lang="en-IN" sz="2600">
                <a:latin typeface="Calisto MT"/>
              </a:rPr>
              <a:t>The widespread availability of deepfake generation tools has made it trivially easy to create convincing fake videos, threatening public trust in digital media.</a:t>
            </a:r>
          </a:p>
          <a:p>
            <a:pPr marL="0" indent="0">
              <a:buNone/>
            </a:pPr>
            <a:endParaRPr lang="en-IN" sz="2600">
              <a:latin typeface="Calisto MT"/>
            </a:endParaRPr>
          </a:p>
          <a:p>
            <a:pPr marL="305435" indent="-305435">
              <a:buFont typeface="Wingdings" panose="05020102010507070707" pitchFamily="18" charset="2"/>
              <a:buChar char="q"/>
            </a:pPr>
            <a:r>
              <a:rPr lang="en-IN" sz="2600" dirty="0">
                <a:latin typeface="Calisto MT"/>
              </a:rPr>
              <a:t>Current deepfake detection models are often trained on a single dataset and fail to generalize when tested on unseen deepfake types or generation methods.</a:t>
            </a:r>
            <a:endParaRPr lang="en-IN" sz="2600" dirty="0"/>
          </a:p>
          <a:p>
            <a:pPr marL="0" indent="0">
              <a:buNone/>
            </a:pPr>
            <a:endParaRPr lang="en-IN" sz="2600">
              <a:latin typeface="Calisto MT"/>
            </a:endParaRPr>
          </a:p>
          <a:p>
            <a:pPr marL="305435" indent="-305435">
              <a:buFont typeface="Wingdings" panose="05020102010507070707" pitchFamily="18" charset="2"/>
              <a:buChar char="q"/>
            </a:pPr>
            <a:r>
              <a:rPr lang="en-IN" sz="2600">
                <a:latin typeface="Calisto MT"/>
              </a:rPr>
              <a:t>Several existing approaches rely purely on CNNs, which capture local spatial features but struggle to model long-range dependencies across facial regions.</a:t>
            </a:r>
          </a:p>
          <a:p>
            <a:pPr marL="305435" indent="-305435">
              <a:buFont typeface="Wingdings" panose="05020102010507070707" pitchFamily="18" charset="2"/>
              <a:buChar char="q"/>
            </a:pPr>
            <a:endParaRPr lang="en-IN" sz="2600">
              <a:latin typeface="Calisto MT"/>
            </a:endParaRPr>
          </a:p>
          <a:p>
            <a:pPr marL="305435" indent="-305435">
              <a:buFont typeface="Wingdings" panose="05020102010507070707" pitchFamily="18" charset="2"/>
              <a:buChar char="q"/>
            </a:pPr>
            <a:r>
              <a:rPr lang="en-IN" sz="2600" dirty="0">
                <a:latin typeface="Calisto MT"/>
              </a:rPr>
              <a:t>Existing deepfake detection models fail in real-world scenarios as compression artifacts destroy the subtle manipulation </a:t>
            </a:r>
            <a:r>
              <a:rPr lang="en-IN" sz="2600" dirty="0" err="1">
                <a:latin typeface="Calisto MT"/>
              </a:rPr>
              <a:t>traces</a:t>
            </a:r>
            <a:r>
              <a:rPr lang="en-IN" sz="2600" dirty="0">
                <a:latin typeface="Calisto MT"/>
              </a:rPr>
              <a:t> they rely on, yet most models are trained only on high-quality uncompressed media.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02830B-3452-3D9F-2563-5A8718A86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A60F6-7DB0-467E-96ED-BD436AB6B60E}" type="datetime1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485A8D-5C9D-8000-09D8-B85F0057E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/>
              <a:t>URP 4301 - Final Year Research Project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1F04C7-8542-B2B1-D24A-968564821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17644237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FCE906-DB21-187F-195F-44093F672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6A4CB-166C-58B8-0E29-24BCC9BA3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686057-64BA-E71F-C480-630CE0CE47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305435" indent="-305435">
              <a:buFont typeface="Wingdings" panose="05020102010507070707" pitchFamily="18" charset="2"/>
              <a:buChar char="q"/>
            </a:pPr>
            <a:endParaRPr lang="en-IN" sz="2400">
              <a:latin typeface="Calisto MT"/>
            </a:endParaRPr>
          </a:p>
          <a:p>
            <a:pPr marL="305435" indent="-305435">
              <a:buFont typeface="Wingdings" panose="05020102010507070707" pitchFamily="18" charset="2"/>
              <a:buChar char="q"/>
            </a:pPr>
            <a:r>
              <a:rPr lang="en-IN">
                <a:latin typeface="Calisto MT"/>
              </a:rPr>
              <a:t>There is a lack of robust, cross – data detection systems that can handle multiple manipulation techniques such as </a:t>
            </a:r>
            <a:r>
              <a:rPr lang="en-IN" err="1">
                <a:latin typeface="Calisto MT"/>
              </a:rPr>
              <a:t>FaceSwap</a:t>
            </a:r>
            <a:r>
              <a:rPr lang="en-IN">
                <a:latin typeface="Calisto MT"/>
              </a:rPr>
              <a:t>, Face2Face, </a:t>
            </a:r>
            <a:r>
              <a:rPr lang="en-IN" err="1">
                <a:latin typeface="Calisto MT"/>
              </a:rPr>
              <a:t>NeuralTextures</a:t>
            </a:r>
            <a:r>
              <a:rPr lang="en-IN">
                <a:latin typeface="Calisto MT"/>
              </a:rPr>
              <a:t> and Deepfakes simultaneously.</a:t>
            </a:r>
          </a:p>
          <a:p>
            <a:pPr marL="305435" indent="-305435">
              <a:buFont typeface="Wingdings" panose="05020102010507070707" pitchFamily="18" charset="2"/>
              <a:buChar char="q"/>
            </a:pPr>
            <a:endParaRPr lang="en-IN">
              <a:latin typeface="Calisto MT"/>
            </a:endParaRPr>
          </a:p>
          <a:p>
            <a:pPr marL="305435" indent="-305435">
              <a:buFont typeface="Wingdings" panose="05020102010507070707" pitchFamily="18" charset="2"/>
              <a:buChar char="q"/>
            </a:pPr>
            <a:r>
              <a:rPr lang="en-IN">
                <a:latin typeface="Calisto MT"/>
              </a:rPr>
              <a:t>This project addresses the gap by building a dual model detection system trained on two large-scale data sets (CelebDF-V2 and </a:t>
            </a:r>
            <a:r>
              <a:rPr lang="en-IN" err="1">
                <a:latin typeface="Calisto MT"/>
              </a:rPr>
              <a:t>FaceForensics</a:t>
            </a:r>
            <a:r>
              <a:rPr lang="en-IN">
                <a:latin typeface="Calisto MT"/>
              </a:rPr>
              <a:t>++) covering multiple manipulation methods.</a:t>
            </a:r>
          </a:p>
          <a:p>
            <a:pPr marL="305435" indent="-305435">
              <a:buFont typeface="Wingdings" panose="05020102010507070707" pitchFamily="18" charset="2"/>
              <a:buChar char="q"/>
            </a:pPr>
            <a:endParaRPr lang="en-IN">
              <a:latin typeface="Calisto MT"/>
            </a:endParaRPr>
          </a:p>
          <a:p>
            <a:pPr marL="305435" indent="-305435">
              <a:buFont typeface="Wingdings" panose="05020102010507070707" pitchFamily="18" charset="2"/>
              <a:buChar char="q"/>
            </a:pPr>
            <a:r>
              <a:rPr lang="en-IN">
                <a:latin typeface="Calisto MT"/>
              </a:rPr>
              <a:t>No prior work provides a side-by-side benchmark of a lightweight CNN baseline vs an attention-based hybrid on identical data. This project fills that gap by evaluating EfficientNet-B0 against a CNN-Transformer Hybrid under the same training pipeline and metrics.</a:t>
            </a:r>
            <a:endParaRPr lang="en-IN"/>
          </a:p>
          <a:p>
            <a:pPr marL="305435" indent="-305435">
              <a:buFont typeface="Wingdings" panose="05020102010507070707" pitchFamily="18" charset="2"/>
              <a:buChar char="q"/>
            </a:pPr>
            <a:endParaRPr lang="en-IN"/>
          </a:p>
          <a:p>
            <a:pPr marL="305435" indent="-305435">
              <a:buFont typeface="Wingdings" panose="05020102010507070707" pitchFamily="18" charset="2"/>
              <a:buChar char="q"/>
            </a:pPr>
            <a:endParaRPr lang="en-IN">
              <a:latin typeface="Calisto MT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0A8448-0110-90B8-532E-0B3ED921E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A60F6-7DB0-467E-96ED-BD436AB6B60E}" type="datetime1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62FB31-9F2F-70D8-CEDE-6BBA71309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/>
              <a:t>URP 4301 - Final Year Research Project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41B52A-0493-15EE-6557-FB0A3D47E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15655539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442AC60-8F76-2259-DB42-70A74872D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Motivations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4CF9406-D5A2-E546-C448-D5AADECC8F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330" y="1468322"/>
            <a:ext cx="11745157" cy="5928216"/>
          </a:xfrm>
        </p:spPr>
        <p:txBody>
          <a:bodyPr>
            <a:normAutofit fontScale="92500" lnSpcReduction="10000"/>
          </a:bodyPr>
          <a:lstStyle/>
          <a:p>
            <a:pPr marL="305435" indent="-305435">
              <a:buFont typeface="Wingdings" panose="05020102010507070707" pitchFamily="18" charset="2"/>
              <a:buChar char="Ø"/>
            </a:pPr>
            <a:r>
              <a:rPr lang="en-IN" sz="2900" b="1">
                <a:latin typeface="Calisto MT"/>
              </a:rPr>
              <a:t>Real World Harm - </a:t>
            </a:r>
            <a:endParaRPr lang="en-IN" sz="2600" b="1"/>
          </a:p>
          <a:p>
            <a:pPr marL="0" indent="0">
              <a:buNone/>
            </a:pPr>
            <a:endParaRPr lang="en-IN" sz="2600" b="1">
              <a:latin typeface="Calisto MT"/>
            </a:endParaRPr>
          </a:p>
          <a:p>
            <a:pPr marL="0" indent="0">
              <a:buNone/>
            </a:pPr>
            <a:r>
              <a:rPr lang="en-IN" sz="2600">
                <a:latin typeface="Calisto MT"/>
              </a:rPr>
              <a:t>Deepfake videos have been used in political disinformation campaigns, non- consensual intimate imagery, and financial fraud, causing serious harm to individuals and institutions.</a:t>
            </a:r>
            <a:endParaRPr lang="en-IN" sz="2600"/>
          </a:p>
          <a:p>
            <a:pPr marL="0" indent="0">
              <a:buNone/>
            </a:pPr>
            <a:endParaRPr lang="en-IN" sz="2200">
              <a:latin typeface="Calisto MT"/>
            </a:endParaRPr>
          </a:p>
          <a:p>
            <a:pPr marL="305435" indent="-305435">
              <a:buFont typeface="Wingdings" panose="05020102010507070707" pitchFamily="18" charset="2"/>
              <a:buChar char="Ø"/>
            </a:pPr>
            <a:r>
              <a:rPr lang="en-IN" b="1">
                <a:latin typeface="Calisto MT"/>
              </a:rPr>
              <a:t>Platform Gap - </a:t>
            </a:r>
          </a:p>
          <a:p>
            <a:pPr marL="305435" indent="-305435">
              <a:buFont typeface="Wingdings" panose="05020102010507070707" pitchFamily="18" charset="2"/>
              <a:buChar char="Ø"/>
            </a:pPr>
            <a:endParaRPr lang="en-IN" b="1">
              <a:latin typeface="Calisto MT"/>
            </a:endParaRPr>
          </a:p>
          <a:p>
            <a:pPr marL="0" indent="0">
              <a:buNone/>
            </a:pPr>
            <a:r>
              <a:rPr lang="en-IN" sz="2600">
                <a:latin typeface="Calisto MT"/>
              </a:rPr>
              <a:t>Social media platforms currently lack reliable automated tools to detect and flag AI-manipulated face content at scale.</a:t>
            </a:r>
            <a:endParaRPr lang="en-IN" sz="2600"/>
          </a:p>
          <a:p>
            <a:pPr marL="0" indent="0">
              <a:buNone/>
            </a:pPr>
            <a:endParaRPr lang="en-IN">
              <a:latin typeface="Calisto MT"/>
            </a:endParaRPr>
          </a:p>
          <a:p>
            <a:pPr marL="305435" indent="-305435">
              <a:buFont typeface="Wingdings" panose="05020102010507070707" pitchFamily="18" charset="2"/>
              <a:buChar char="Ø"/>
            </a:pPr>
            <a:r>
              <a:rPr lang="en-IN" b="1">
                <a:latin typeface="Calisto MT"/>
              </a:rPr>
              <a:t>Accessibility of Tools - </a:t>
            </a:r>
          </a:p>
          <a:p>
            <a:pPr marL="305435" indent="-305435">
              <a:buFont typeface="Wingdings" panose="05020102010507070707" pitchFamily="18" charset="2"/>
              <a:buChar char="Ø"/>
            </a:pPr>
            <a:endParaRPr lang="en-IN" sz="2600">
              <a:latin typeface="Calisto MT"/>
            </a:endParaRPr>
          </a:p>
          <a:p>
            <a:pPr marL="0" indent="0">
              <a:buNone/>
            </a:pPr>
            <a:r>
              <a:rPr lang="en-IN" sz="2600">
                <a:latin typeface="Calisto MT"/>
              </a:rPr>
              <a:t>The rise of accessible deepfake apps (e.g. </a:t>
            </a:r>
            <a:r>
              <a:rPr lang="en-IN" sz="2600" err="1">
                <a:latin typeface="Calisto MT"/>
              </a:rPr>
              <a:t>FaceApp</a:t>
            </a:r>
            <a:r>
              <a:rPr lang="en-IN" sz="2600">
                <a:latin typeface="Calisto MT"/>
              </a:rPr>
              <a:t>, </a:t>
            </a:r>
            <a:r>
              <a:rPr lang="en-IN" sz="2600" err="1">
                <a:latin typeface="Calisto MT"/>
              </a:rPr>
              <a:t>DeepFaceLab</a:t>
            </a:r>
            <a:r>
              <a:rPr lang="en-IN" sz="2600">
                <a:latin typeface="Calisto MT"/>
              </a:rPr>
              <a:t>) means even non-technical users can now generate convincing fakes, making detection more urgent than ever.</a:t>
            </a:r>
            <a:endParaRPr lang="en-IN" sz="2600"/>
          </a:p>
          <a:p>
            <a:pPr marL="0" indent="0">
              <a:buNone/>
            </a:pPr>
            <a:endParaRPr lang="en-IN" b="1">
              <a:latin typeface="Calisto MT"/>
            </a:endParaRPr>
          </a:p>
          <a:p>
            <a:pPr marL="0" indent="0">
              <a:buNone/>
            </a:pPr>
            <a:r>
              <a:rPr lang="en-IN" sz="2600">
                <a:latin typeface="Calisto MT"/>
              </a:rPr>
              <a:t>.</a:t>
            </a:r>
            <a:endParaRPr lang="en-IN" sz="2600"/>
          </a:p>
          <a:p>
            <a:pPr marL="0" indent="0">
              <a:buNone/>
            </a:pPr>
            <a:r>
              <a:rPr lang="en-IN"/>
              <a:t> 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94A2E4-297C-FA50-FDCB-3F5613C74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A60F6-7DB0-467E-96ED-BD436AB6B60E}" type="datetime1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BC252E-2E94-2673-19A7-89C655036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/>
              <a:t>URP 4301 - Final Year Research Project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404A0D-EF08-BB26-E952-300CD8D1E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1431790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ABC289-136A-3247-6AA0-E1020B3BE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511A1FA-2D03-8830-AD67-F6B8C5A58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Motivations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35A8ACE-F686-F929-9723-C73358CBA8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330" y="1468322"/>
            <a:ext cx="11745157" cy="505139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b="1">
              <a:latin typeface="Calisto MT"/>
            </a:endParaRPr>
          </a:p>
          <a:p>
            <a:pPr marL="305435" indent="-305435">
              <a:buFont typeface="Wingdings" panose="05020102010507070707" pitchFamily="18" charset="2"/>
              <a:buChar char="Ø"/>
            </a:pPr>
            <a:r>
              <a:rPr lang="en-IN" b="1">
                <a:latin typeface="Calisto MT"/>
              </a:rPr>
              <a:t>Cross-Dataset Gap - </a:t>
            </a:r>
          </a:p>
          <a:p>
            <a:pPr marL="305435" indent="-305435">
              <a:buFont typeface="Wingdings" panose="05020102010507070707" pitchFamily="18" charset="2"/>
              <a:buChar char="Ø"/>
            </a:pPr>
            <a:endParaRPr lang="en-IN">
              <a:latin typeface="Calisto MT"/>
            </a:endParaRPr>
          </a:p>
          <a:p>
            <a:pPr marL="0" indent="0">
              <a:buNone/>
            </a:pPr>
            <a:r>
              <a:rPr lang="en-IN" sz="2600">
                <a:latin typeface="Calisto MT"/>
              </a:rPr>
              <a:t>Existing academic models are rarely tested across multiple datasets simultaneously — this project directly tackles that by combining CelebDF-V2 and </a:t>
            </a:r>
            <a:r>
              <a:rPr lang="en-IN" sz="2600" err="1">
                <a:latin typeface="Calisto MT"/>
              </a:rPr>
              <a:t>FaceForensics</a:t>
            </a:r>
            <a:r>
              <a:rPr lang="en-IN" sz="2600">
                <a:latin typeface="Calisto MT"/>
              </a:rPr>
              <a:t>++ for training.</a:t>
            </a:r>
            <a:endParaRPr lang="en-IN" sz="2600"/>
          </a:p>
          <a:p>
            <a:pPr marL="0" indent="0">
              <a:buNone/>
            </a:pPr>
            <a:endParaRPr lang="en-IN">
              <a:latin typeface="Calisto MT"/>
            </a:endParaRPr>
          </a:p>
          <a:p>
            <a:pPr marL="305435" indent="-305435">
              <a:buFont typeface="Wingdings" panose="05020102010507070707" pitchFamily="18" charset="2"/>
              <a:buChar char="Ø"/>
            </a:pPr>
            <a:r>
              <a:rPr lang="en-IN" sz="2900" b="1">
                <a:latin typeface="Calisto MT"/>
              </a:rPr>
              <a:t>Research Insight - </a:t>
            </a:r>
          </a:p>
          <a:p>
            <a:pPr marL="305435" indent="-305435">
              <a:buFont typeface="Wingdings" panose="05020102010507070707" pitchFamily="18" charset="2"/>
              <a:buChar char="Ø"/>
            </a:pPr>
            <a:endParaRPr lang="en-IN">
              <a:latin typeface="Calisto MT"/>
            </a:endParaRPr>
          </a:p>
          <a:p>
            <a:pPr marL="0" indent="0">
              <a:buNone/>
            </a:pPr>
            <a:r>
              <a:rPr lang="en-IN" sz="2600">
                <a:latin typeface="Calisto MT"/>
              </a:rPr>
              <a:t>Comparing a pure CNN model against a CNN-Transformer hybrid provides valuable insight into whether attention mechanisms genuinely improve deepfake detection over strong baselines.</a:t>
            </a:r>
            <a:endParaRPr lang="en-IN" sz="2600"/>
          </a:p>
          <a:p>
            <a:pPr marL="0" indent="0">
              <a:buNone/>
            </a:pPr>
            <a:r>
              <a:rPr lang="en-IN"/>
              <a:t> 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065A63-E826-BCD2-8CFA-B9CF6F84D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A60F6-7DB0-467E-96ED-BD436AB6B60E}" type="datetime1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5C26DC-0020-D897-B8F6-36C1FEDF0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/>
              <a:t>URP 4301 - Final Year Research Project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6EE2B-4D80-2FD6-9D2C-8F53B3238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7180047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B0C90-4DBB-4153-C19E-718F3EC51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/>
              <a:t>Project Objectives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D8E676C-A490-D29B-101C-DECD960540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AutoNum type="arabicPeriod"/>
            </a:pPr>
            <a:r>
              <a:rPr lang="en-IN" sz="2400">
                <a:latin typeface="Calisto MT"/>
              </a:rPr>
              <a:t>Build an automated deepfake face detection system capable of classifying facial images as real or fake with high accuracy.</a:t>
            </a:r>
            <a:endParaRPr lang="en-US" sz="2400">
              <a:latin typeface="Calisto MT"/>
            </a:endParaRPr>
          </a:p>
          <a:p>
            <a:pPr marL="514350" indent="-514350">
              <a:buAutoNum type="arabicPeriod"/>
            </a:pPr>
            <a:endParaRPr lang="en-IN" sz="2400">
              <a:latin typeface="Calisto MT"/>
            </a:endParaRPr>
          </a:p>
          <a:p>
            <a:pPr marL="514350" indent="-514350">
              <a:buAutoNum type="arabicPeriod"/>
            </a:pPr>
            <a:r>
              <a:rPr lang="en-IN" sz="2400" dirty="0">
                <a:latin typeface="Calisto MT"/>
              </a:rPr>
              <a:t>Preprocess and combine two large-scale benchmark datasets — CelebDF-V2 and </a:t>
            </a:r>
            <a:r>
              <a:rPr lang="en-IN" sz="2400" dirty="0" err="1">
                <a:latin typeface="Calisto MT"/>
              </a:rPr>
              <a:t>FaceForensics</a:t>
            </a:r>
            <a:r>
              <a:rPr lang="en-IN" sz="2400" dirty="0">
                <a:latin typeface="Calisto MT"/>
              </a:rPr>
              <a:t>++ (C23) — covering Deepfakes, </a:t>
            </a:r>
            <a:r>
              <a:rPr lang="en-IN" sz="2400" dirty="0" err="1">
                <a:latin typeface="Calisto MT"/>
              </a:rPr>
              <a:t>FaceSwap</a:t>
            </a:r>
            <a:r>
              <a:rPr lang="en-IN" sz="2400" dirty="0">
                <a:latin typeface="Calisto MT"/>
              </a:rPr>
              <a:t>, Face2Face, </a:t>
            </a:r>
            <a:r>
              <a:rPr lang="en-IN" sz="2400" dirty="0" err="1">
                <a:latin typeface="Calisto MT"/>
              </a:rPr>
              <a:t>NeuralTextures</a:t>
            </a:r>
            <a:r>
              <a:rPr lang="en-IN" sz="2400" dirty="0">
                <a:latin typeface="Calisto MT"/>
              </a:rPr>
              <a:t>, </a:t>
            </a:r>
            <a:r>
              <a:rPr lang="en-IN" sz="2400" dirty="0" err="1">
                <a:latin typeface="Calisto MT"/>
              </a:rPr>
              <a:t>FaceShifter</a:t>
            </a:r>
            <a:r>
              <a:rPr lang="en-IN" sz="2400" dirty="0">
                <a:latin typeface="Calisto MT"/>
              </a:rPr>
              <a:t>, and </a:t>
            </a:r>
            <a:r>
              <a:rPr lang="en-IN" sz="2400" dirty="0" err="1">
                <a:latin typeface="Calisto MT"/>
              </a:rPr>
              <a:t>DeepFakeDetection</a:t>
            </a:r>
            <a:r>
              <a:rPr lang="en-IN" sz="2400" dirty="0">
                <a:latin typeface="Calisto MT"/>
              </a:rPr>
              <a:t>.</a:t>
            </a:r>
          </a:p>
          <a:p>
            <a:pPr marL="514350" indent="-514350">
              <a:buAutoNum type="arabicPeriod"/>
            </a:pPr>
            <a:endParaRPr lang="en-IN" sz="2400">
              <a:latin typeface="Calisto MT"/>
            </a:endParaRPr>
          </a:p>
          <a:p>
            <a:pPr marL="514350" indent="-514350">
              <a:buAutoNum type="arabicPeriod"/>
            </a:pPr>
            <a:r>
              <a:rPr lang="en-IN" sz="2400">
                <a:latin typeface="Calisto MT"/>
              </a:rPr>
              <a:t>Implement and train a pretrained EfficientNet-B0 model as a strong CNN baseline for deepfake detection.</a:t>
            </a:r>
          </a:p>
          <a:p>
            <a:pPr marL="514350" indent="-514350">
              <a:buAutoNum type="arabicPeriod"/>
            </a:pPr>
            <a:endParaRPr lang="en-IN" sz="2400">
              <a:latin typeface="Calisto MT"/>
            </a:endParaRPr>
          </a:p>
          <a:p>
            <a:pPr marL="514350" indent="-514350">
              <a:buAutoNum type="arabicPeriod"/>
            </a:pPr>
            <a:r>
              <a:rPr lang="en-IN" sz="2400">
                <a:latin typeface="Calisto MT"/>
              </a:rPr>
              <a:t>Design and train a Hybrid CNN-Transformer model (EfficientNet-B3 + Transformer Encoder) that captures both local spatial features and global long-range dependencies.</a:t>
            </a:r>
          </a:p>
          <a:p>
            <a:pPr marL="514350" indent="-514350">
              <a:buAutoNum type="arabicPeriod"/>
            </a:pPr>
            <a:endParaRPr lang="en-IN" sz="2400">
              <a:latin typeface="Calisto MT"/>
            </a:endParaRPr>
          </a:p>
          <a:p>
            <a:pPr marL="514350" indent="-514350">
              <a:buAutoNum type="arabicPeriod"/>
            </a:pPr>
            <a:r>
              <a:rPr lang="en-IN" sz="2400" dirty="0">
                <a:latin typeface="Calisto MT"/>
              </a:rPr>
              <a:t>Compare both models using Accuracy, Precision, Recall, F1-Score, and AUC-ROC </a:t>
            </a:r>
            <a:r>
              <a:rPr lang="en-IN" sz="2400" dirty="0" err="1">
                <a:latin typeface="Calisto MT"/>
              </a:rPr>
              <a:t>metr</a:t>
            </a:r>
            <a:r>
              <a:rPr lang="en-IN" sz="2400" dirty="0">
                <a:latin typeface="Calisto MT"/>
              </a:rPr>
              <a:t> to identify the stronger approach.</a:t>
            </a:r>
          </a:p>
          <a:p>
            <a:pPr marL="514350" indent="-514350">
              <a:buAutoNum type="arabicPeriod"/>
            </a:pPr>
            <a:endParaRPr lang="en-IN" sz="2400">
              <a:latin typeface="Calisto MT"/>
            </a:endParaRPr>
          </a:p>
          <a:p>
            <a:pPr marL="514350" indent="-514350">
              <a:buAutoNum type="arabicPeriod"/>
            </a:pPr>
            <a:r>
              <a:rPr lang="en-IN" sz="2400">
                <a:latin typeface="Calisto MT"/>
              </a:rPr>
              <a:t>Generate comprehensive visualizations including confusion matrices, ROC curves, and precision-recall curves for result analysis.</a:t>
            </a:r>
          </a:p>
          <a:p>
            <a:pPr marL="305435" indent="-305435">
              <a:buAutoNum type="arabicPeriod"/>
            </a:pPr>
            <a:endParaRPr lang="en-IN"/>
          </a:p>
          <a:p>
            <a:pPr marL="305435" indent="-305435">
              <a:buAutoNum type="arabicPeriod"/>
            </a:pP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0056FD-CF86-990D-7D8B-0B1682C4B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A60F6-7DB0-467E-96ED-BD436AB6B60E}" type="datetime1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AC7D75-E019-381D-0D2A-3AA1F2486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/>
              <a:t>URP 4301 - Final Year Research Project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30E887-2E2A-DC64-1D13-6413C4546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8423125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67B7E-0547-9A59-A20F-E8801FAAB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Literature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EBAE6D-79FE-7CF3-B3E1-AF9694B60C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330" y="1123856"/>
            <a:ext cx="11745157" cy="505139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1800" b="1">
                <a:solidFill>
                  <a:srgbClr val="0070C0"/>
                </a:solidFill>
                <a:latin typeface="Calisto MT"/>
              </a:rPr>
              <a:t>Table 1:Summary of Existing Approaches and Research </a:t>
            </a:r>
            <a:r>
              <a:rPr lang="en-IN" sz="1800" b="1">
                <a:solidFill>
                  <a:srgbClr val="0070C0"/>
                </a:solidFill>
                <a:latin typeface="Calisto MT"/>
              </a:rPr>
              <a:t>Limitations</a:t>
            </a:r>
            <a:endParaRPr lang="en-US" sz="1800" b="1">
              <a:solidFill>
                <a:srgbClr val="0070C0"/>
              </a:solidFill>
              <a:latin typeface="Calisto MT"/>
            </a:endParaRPr>
          </a:p>
          <a:p>
            <a:pPr marL="0" indent="0">
              <a:buNone/>
            </a:pPr>
            <a:endParaRPr lang="en-IN" sz="2000" b="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5E6F6E-F6E0-10E0-82EB-90F063816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A60F6-7DB0-467E-96ED-BD436AB6B60E}" type="datetime1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8DA3F0-BCE6-7A6F-82D2-0025E47D1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330" y="6310958"/>
            <a:ext cx="6917210" cy="365125"/>
          </a:xfrm>
        </p:spPr>
        <p:txBody>
          <a:bodyPr/>
          <a:lstStyle/>
          <a:p>
            <a:r>
              <a:rPr lang="en-US" sz="1600"/>
              <a:t>URP 4301 - Final Year Research Project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598483-8695-2FBE-9922-C8A3EB3B0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58979" y="6310958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b="1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26B1F04-159E-81D4-A814-E3DDE1C460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1698331"/>
              </p:ext>
            </p:extLst>
          </p:nvPr>
        </p:nvGraphicFramePr>
        <p:xfrm>
          <a:off x="359578" y="1410003"/>
          <a:ext cx="11651905" cy="4822563"/>
        </p:xfrm>
        <a:graphic>
          <a:graphicData uri="http://schemas.openxmlformats.org/drawingml/2006/table">
            <a:tbl>
              <a:tblPr/>
              <a:tblGrid>
                <a:gridCol w="573872">
                  <a:extLst>
                    <a:ext uri="{9D8B030D-6E8A-4147-A177-3AD203B41FA5}">
                      <a16:colId xmlns:a16="http://schemas.microsoft.com/office/drawing/2014/main" val="1724099349"/>
                    </a:ext>
                  </a:extLst>
                </a:gridCol>
                <a:gridCol w="1343025">
                  <a:extLst>
                    <a:ext uri="{9D8B030D-6E8A-4147-A177-3AD203B41FA5}">
                      <a16:colId xmlns:a16="http://schemas.microsoft.com/office/drawing/2014/main" val="3311417763"/>
                    </a:ext>
                  </a:extLst>
                </a:gridCol>
                <a:gridCol w="2591360">
                  <a:extLst>
                    <a:ext uri="{9D8B030D-6E8A-4147-A177-3AD203B41FA5}">
                      <a16:colId xmlns:a16="http://schemas.microsoft.com/office/drawing/2014/main" val="674294725"/>
                    </a:ext>
                  </a:extLst>
                </a:gridCol>
                <a:gridCol w="1971112">
                  <a:extLst>
                    <a:ext uri="{9D8B030D-6E8A-4147-A177-3AD203B41FA5}">
                      <a16:colId xmlns:a16="http://schemas.microsoft.com/office/drawing/2014/main" val="1914132485"/>
                    </a:ext>
                  </a:extLst>
                </a:gridCol>
                <a:gridCol w="2133599">
                  <a:extLst>
                    <a:ext uri="{9D8B030D-6E8A-4147-A177-3AD203B41FA5}">
                      <a16:colId xmlns:a16="http://schemas.microsoft.com/office/drawing/2014/main" val="3409910383"/>
                    </a:ext>
                  </a:extLst>
                </a:gridCol>
                <a:gridCol w="3038937">
                  <a:extLst>
                    <a:ext uri="{9D8B030D-6E8A-4147-A177-3AD203B41FA5}">
                      <a16:colId xmlns:a16="http://schemas.microsoft.com/office/drawing/2014/main" val="3300975957"/>
                    </a:ext>
                  </a:extLst>
                </a:gridCol>
              </a:tblGrid>
              <a:tr h="61632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>
                          <a:latin typeface="Calisto MT" panose="02040603050505030304" pitchFamily="18" charset="0"/>
                        </a:rPr>
                        <a:t>Sl. No.</a:t>
                      </a:r>
                    </a:p>
                  </a:txBody>
                  <a:tcPr marL="58057" marR="58057" marT="29029" marB="290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>
                          <a:latin typeface="Calisto MT" panose="02040603050505030304" pitchFamily="18" charset="0"/>
                        </a:rPr>
                        <a:t>Author &amp; Year</a:t>
                      </a:r>
                    </a:p>
                  </a:txBody>
                  <a:tcPr marL="58057" marR="58057" marT="29029" marB="290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>
                          <a:latin typeface="Calisto MT" panose="02040603050505030304" pitchFamily="18" charset="0"/>
                        </a:rPr>
                        <a:t>Methods/Techniques Used</a:t>
                      </a:r>
                    </a:p>
                  </a:txBody>
                  <a:tcPr marL="58057" marR="58057" marT="29029" marB="290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>
                          <a:latin typeface="Calisto MT" panose="02040603050505030304" pitchFamily="18" charset="0"/>
                        </a:rPr>
                        <a:t>Dataset Used</a:t>
                      </a:r>
                    </a:p>
                  </a:txBody>
                  <a:tcPr marL="58057" marR="58057" marT="29029" marB="290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baseline="0">
                          <a:latin typeface="Calisto MT" panose="02040603050505030304" pitchFamily="18" charset="0"/>
                        </a:rPr>
                        <a:t> Research </a:t>
                      </a:r>
                      <a:r>
                        <a:rPr lang="en-IN" sz="1800" b="1">
                          <a:latin typeface="Calisto MT" panose="02040603050505030304" pitchFamily="18" charset="0"/>
                        </a:rPr>
                        <a:t>Outcomes</a:t>
                      </a:r>
                    </a:p>
                  </a:txBody>
                  <a:tcPr marL="58057" marR="58057" marT="29029" marB="290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>
                          <a:latin typeface="Calisto MT" panose="02040603050505030304" pitchFamily="18" charset="0"/>
                        </a:rPr>
                        <a:t>Findings</a:t>
                      </a:r>
                    </a:p>
                  </a:txBody>
                  <a:tcPr marL="58057" marR="58057" marT="29029" marB="290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053993"/>
                  </a:ext>
                </a:extLst>
              </a:tr>
              <a:tr h="87874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>
                          <a:latin typeface="Calisto MT" panose="02040603050505030304" pitchFamily="18" charset="0"/>
                        </a:rPr>
                        <a:t>1</a:t>
                      </a:r>
                      <a:endParaRPr lang="en-IN" sz="1800">
                        <a:latin typeface="Calisto MT" panose="02040603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IN" sz="1800" b="0" i="0" u="none" strike="noStrike" noProof="0"/>
                        <a:t>Pravallika &amp; Tejaswini (2026) [7]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algn="l">
                        <a:buNone/>
                      </a:pPr>
                      <a:r>
                        <a:rPr lang="en-IN" sz="1800" b="0" i="0" u="none" strike="noStrike" kern="1200" noProof="0" dirty="0" err="1">
                          <a:solidFill>
                            <a:schemeClr val="tx1"/>
                          </a:solidFill>
                        </a:rPr>
                        <a:t>ResNeXt</a:t>
                      </a:r>
                      <a:r>
                        <a:rPr lang="en-IN" sz="1800" b="0" i="0" u="none" strike="noStrike" kern="1200" noProof="0" dirty="0">
                          <a:solidFill>
                            <a:schemeClr val="tx1"/>
                          </a:solidFill>
                        </a:rPr>
                        <a:t> Architecture, Temporal Artifact &amp; Visual Inconsistency</a:t>
                      </a:r>
                      <a:endParaRPr lang="en-IN" sz="1800" kern="1200" dirty="0">
                        <a:solidFill>
                          <a:schemeClr val="tx1"/>
                        </a:solidFill>
                        <a:latin typeface="Calisto MT" panose="02040603050505030304" pitchFamily="18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IN" sz="1800" b="0" i="0" u="none" strike="noStrike" noProof="0" dirty="0"/>
                        <a:t>Custom Dataset + </a:t>
                      </a:r>
                      <a:r>
                        <a:rPr lang="en-IN" sz="1800" b="0" i="0" u="none" strike="noStrike" noProof="0" dirty="0" err="1"/>
                        <a:t>FaceForensics</a:t>
                      </a:r>
                      <a:r>
                        <a:rPr lang="en-IN" sz="1800" b="0" i="0" u="none" strike="noStrike" noProof="0" dirty="0"/>
                        <a:t>++</a:t>
                      </a:r>
                      <a:endParaRPr lang="en-IN" sz="1800" dirty="0">
                        <a:latin typeface="Calisto MT" panose="02040603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800" b="0" i="0" u="none" strike="noStrike" noProof="0"/>
                        <a:t>Effective automated forensic system</a:t>
                      </a:r>
                      <a:endParaRPr lang="en-US" sz="1800">
                        <a:latin typeface="Calisto MT" panose="02040603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800" b="0" i="0" u="none" strike="noStrike" noProof="0"/>
                        <a:t>Strong on temporal artifacts; limited cross-dataset generalization</a:t>
                      </a:r>
                      <a:endParaRPr lang="en-US" sz="1800">
                        <a:latin typeface="Calisto MT" panose="02040603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7779618"/>
                  </a:ext>
                </a:extLst>
              </a:tr>
              <a:tr h="114106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>
                          <a:solidFill>
                            <a:schemeClr val="tx1"/>
                          </a:solidFill>
                          <a:latin typeface="Calisto MT" panose="02040603050505030304" pitchFamily="18" charset="0"/>
                          <a:ea typeface="+mn-ea"/>
                          <a:cs typeface="+mn-cs"/>
                        </a:rPr>
                        <a:t>2</a:t>
                      </a:r>
                      <a:endParaRPr lang="en-IN" sz="1800" kern="1200">
                        <a:solidFill>
                          <a:schemeClr val="tx1"/>
                        </a:solidFill>
                        <a:latin typeface="Calisto MT" panose="02040603050505030304" pitchFamily="18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algn="l">
                        <a:buNone/>
                      </a:pPr>
                      <a:r>
                        <a:rPr lang="en-IN" sz="1800" b="0" i="0" u="none" strike="noStrike" kern="1200" noProof="0" dirty="0">
                          <a:solidFill>
                            <a:schemeClr val="tx1"/>
                          </a:solidFill>
                        </a:rPr>
                        <a:t>Srinivasan et </a:t>
                      </a:r>
                      <a:r>
                        <a:rPr lang="en-IN" sz="1800" b="0" i="0" u="none" strike="noStrike" kern="1200" noProof="0">
                          <a:solidFill>
                            <a:schemeClr val="tx1"/>
                          </a:solidFill>
                        </a:rPr>
                        <a:t>al. (2025) [8]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rtl="0" eaLnBrk="1" latinLnBrk="0" hangingPunct="1">
                        <a:buNone/>
                      </a:pPr>
                      <a:r>
                        <a:rPr lang="en-US" sz="1800" b="0" i="0" u="none" strike="noStrike" noProof="0"/>
                        <a:t>GAN + Autoencoder + CNN (DDM) for real-time forgery</a:t>
                      </a:r>
                      <a:r>
                        <a:rPr lang="en-US" sz="1800">
                          <a:latin typeface="Calisto MT"/>
                        </a:rPr>
                        <a:t>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algn="l">
                        <a:buNone/>
                      </a:pPr>
                      <a:r>
                        <a:rPr lang="en-IN" sz="1800" b="0" i="0" u="none" strike="noStrike" noProof="0" dirty="0"/>
                        <a:t>FF++, </a:t>
                      </a:r>
                      <a:r>
                        <a:rPr lang="en-IN" sz="1800" b="0" i="0" u="none" strike="noStrike" noProof="0" dirty="0" err="1"/>
                        <a:t>FakeAVCeleb</a:t>
                      </a:r>
                      <a:r>
                        <a:rPr lang="en-IN" sz="1800" b="0" i="0" u="none" strike="noStrike" noProof="0" dirty="0"/>
                        <a:t>, DFFMD, Custom Celebrity Dataset</a:t>
                      </a:r>
                      <a:endParaRPr lang="en-US" b="0" i="0" u="none" strike="noStrike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algn="l" defTabSz="914400">
                        <a:buNone/>
                      </a:pPr>
                      <a:r>
                        <a:rPr lang="en-US" sz="1800" b="0" i="0" u="none" strike="noStrike" noProof="0"/>
                        <a:t>Accuracy: 92.3%</a:t>
                      </a:r>
                      <a:endParaRPr lang="en-US" b="0" i="0" u="none" strike="noStrike" noProof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Real-time detection feasible; performance drops on high-quality GAN fakes</a:t>
                      </a:r>
                    </a:p>
                    <a:p>
                      <a:pPr marL="0" lvl="0" algn="l" defTabSz="914400">
                        <a:buNone/>
                      </a:pPr>
                      <a:endParaRPr lang="en-US" sz="1800">
                        <a:latin typeface="Calisto M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4471201"/>
                  </a:ext>
                </a:extLst>
              </a:tr>
              <a:tr h="114106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>
                          <a:latin typeface="Calisto MT" panose="02040603050505030304" pitchFamily="18" charset="0"/>
                        </a:rPr>
                        <a:t>3</a:t>
                      </a:r>
                      <a:endParaRPr lang="en-IN" sz="1800">
                        <a:latin typeface="Calisto MT" panose="02040603050505030304" pitchFamily="18" charset="0"/>
                      </a:endParaRPr>
                    </a:p>
                  </a:txBody>
                  <a:tcPr marL="58057" marR="58057" marT="29029" marB="290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IN" sz="1800" b="0" i="0" u="none" strike="noStrike" noProof="0" dirty="0" err="1"/>
                        <a:t>Ekatpure</a:t>
                      </a:r>
                      <a:r>
                        <a:rPr lang="en-IN" sz="1800" b="0" i="0" u="none" strike="noStrike" noProof="0" dirty="0"/>
                        <a:t> et al. (2025) [9]</a:t>
                      </a:r>
                      <a:endParaRPr lang="en-US" dirty="0"/>
                    </a:p>
                  </a:txBody>
                  <a:tcPr marL="58057" marR="58057" marT="29029" marB="290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algn="l">
                        <a:buNone/>
                      </a:pPr>
                      <a:r>
                        <a:rPr lang="en-IN" sz="1800" b="0" i="0" u="none" strike="noStrike" kern="1200" noProof="0">
                          <a:solidFill>
                            <a:schemeClr val="tx1"/>
                          </a:solidFill>
                        </a:rPr>
                        <a:t>CNN + Hybrid LSTM for image, video &amp; audio detection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algn="l">
                        <a:buNone/>
                      </a:pPr>
                      <a:r>
                        <a:rPr lang="en-IN" sz="1800" b="0" i="0" u="none" strike="noStrike" kern="1200" noProof="0">
                          <a:solidFill>
                            <a:schemeClr val="tx1"/>
                          </a:solidFill>
                        </a:rPr>
                        <a:t>Custom multi-modal dataset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Effective temporal manipulation detection</a:t>
                      </a:r>
                    </a:p>
                    <a:p>
                      <a:pPr marL="0" lvl="0" algn="l" defTabSz="914400">
                        <a:buNone/>
                      </a:pPr>
                      <a:endParaRPr lang="en-IN" sz="1800" kern="1200">
                        <a:solidFill>
                          <a:schemeClr val="tx1"/>
                        </a:solidFill>
                        <a:latin typeface="Calisto M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algn="l">
                        <a:buNone/>
                      </a:pPr>
                      <a:r>
                        <a:rPr lang="en-US" sz="1800" b="0" i="0" u="none" strike="noStrike" kern="1200" noProof="0">
                          <a:solidFill>
                            <a:schemeClr val="tx1"/>
                          </a:solidFill>
                        </a:rPr>
                        <a:t>Auto feature extraction outperforms handcrafted; audio adds complexity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7702041"/>
                  </a:ext>
                </a:extLst>
              </a:tr>
              <a:tr h="87874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>
                          <a:latin typeface="Calisto MT" panose="02040603050505030304" pitchFamily="18" charset="0"/>
                        </a:rPr>
                        <a:t>4</a:t>
                      </a:r>
                      <a:endParaRPr lang="en-IN" sz="1800">
                        <a:latin typeface="Calisto MT" panose="02040603050505030304" pitchFamily="18" charset="0"/>
                      </a:endParaRPr>
                    </a:p>
                  </a:txBody>
                  <a:tcPr marL="58057" marR="58057" marT="29029" marB="290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Deshpande et al. (2025)</a:t>
                      </a:r>
                      <a:endParaRPr lang="en-US"/>
                    </a:p>
                    <a:p>
                      <a:pPr lvl="0" algn="l">
                        <a:buNone/>
                      </a:pPr>
                      <a:r>
                        <a:rPr lang="en-IN" sz="1800">
                          <a:latin typeface="Calisto MT"/>
                        </a:rPr>
                        <a:t>[10]</a:t>
                      </a:r>
                    </a:p>
                  </a:txBody>
                  <a:tcPr marL="58057" marR="58057" marT="29029" marB="290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algn="l">
                        <a:buNone/>
                      </a:pPr>
                      <a:r>
                        <a:rPr lang="en-IN" sz="1800" b="0" i="0" u="none" strike="noStrike" kern="1200" noProof="0">
                          <a:solidFill>
                            <a:schemeClr val="tx1"/>
                          </a:solidFill>
                        </a:rPr>
                        <a:t>Automated CNN with resizing &amp; transform optimization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algn="l">
                        <a:buNone/>
                      </a:pPr>
                      <a:r>
                        <a:rPr lang="en-IN" sz="1800" b="0" i="0" u="none" strike="noStrike" kern="1200" noProof="0">
                          <a:solidFill>
                            <a:schemeClr val="tx1"/>
                          </a:solidFill>
                        </a:rPr>
                        <a:t>Custom image &amp; video dataset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algn="l">
                        <a:buNone/>
                      </a:pPr>
                      <a:r>
                        <a:rPr lang="en-IN" sz="1800" b="0" i="0" u="none" strike="noStrike" kern="1200" noProof="0">
                          <a:solidFill>
                            <a:schemeClr val="tx1"/>
                          </a:solidFill>
                        </a:rPr>
                        <a:t>Accuracy: 95.775%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algn="l">
                        <a:buNone/>
                      </a:pPr>
                      <a:r>
                        <a:rPr lang="en-US" sz="1800" b="0" i="0" u="none" strike="noStrike" kern="1200" noProof="0">
                          <a:solidFill>
                            <a:schemeClr val="tx1"/>
                          </a:solidFill>
                        </a:rPr>
                        <a:t>Optimized CNN outperforms traditional forensics; limited to image/video only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7163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49903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32D5A-4CC1-899E-C2B2-ECAB45658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/>
              <a:t>Research Gap &amp; Improvements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9F19B8C-A9D7-3EFD-B53B-91EA2A10FA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330" y="1290870"/>
            <a:ext cx="11745157" cy="5061831"/>
          </a:xfrm>
        </p:spPr>
        <p:txBody>
          <a:bodyPr>
            <a:normAutofit/>
          </a:bodyPr>
          <a:lstStyle/>
          <a:p>
            <a:pPr marL="305435" indent="-305435">
              <a:buFont typeface="Wingdings" panose="05020102010507070707" pitchFamily="18" charset="2"/>
              <a:buChar char="q"/>
            </a:pPr>
            <a:r>
              <a:rPr lang="en-IN" sz="3200" b="1">
                <a:latin typeface="Calisto MT"/>
              </a:rPr>
              <a:t>Research Gaps</a:t>
            </a:r>
            <a:endParaRPr lang="en-IN" sz="3200"/>
          </a:p>
          <a:p>
            <a:pPr marL="0" indent="0">
              <a:buNone/>
            </a:pPr>
            <a:endParaRPr lang="en-IN" b="1">
              <a:latin typeface="Calisto MT"/>
            </a:endParaRPr>
          </a:p>
          <a:p>
            <a:pPr marL="0" indent="0">
              <a:buNone/>
            </a:pPr>
            <a:r>
              <a:rPr lang="en-IN">
                <a:latin typeface="Calisto MT"/>
              </a:rPr>
              <a:t>(</a:t>
            </a:r>
            <a:r>
              <a:rPr lang="en-IN" err="1">
                <a:latin typeface="Calisto MT"/>
              </a:rPr>
              <a:t>i</a:t>
            </a:r>
            <a:r>
              <a:rPr lang="en-IN">
                <a:latin typeface="Calisto MT"/>
              </a:rPr>
              <a:t>) Most models are trained and tested on a single dataset, making them overfit to specific manipulation types and fail in cross-dataset scenarios.</a:t>
            </a:r>
            <a:endParaRPr lang="en-IN"/>
          </a:p>
          <a:p>
            <a:pPr marL="305435" indent="-305435">
              <a:buFont typeface="Wingdings" panose="05020102010507070707" pitchFamily="18" charset="2"/>
              <a:buChar char="q"/>
            </a:pPr>
            <a:endParaRPr lang="en-IN"/>
          </a:p>
          <a:p>
            <a:pPr marL="0" indent="0">
              <a:buNone/>
            </a:pPr>
            <a:r>
              <a:rPr lang="en-IN">
                <a:latin typeface="Calisto MT"/>
              </a:rPr>
              <a:t>(ii) Pure CNN-based methods capture local features but miss global dependencies across facial regions — critical for detecting subtle manipulations.</a:t>
            </a:r>
            <a:endParaRPr lang="en-IN"/>
          </a:p>
          <a:p>
            <a:pPr marL="305435" indent="-305435">
              <a:buFont typeface="Wingdings" panose="05020102010507070707" pitchFamily="18" charset="2"/>
              <a:buChar char="q"/>
            </a:pPr>
            <a:endParaRPr lang="en-IN"/>
          </a:p>
          <a:p>
            <a:pPr marL="0" indent="0">
              <a:buNone/>
            </a:pPr>
            <a:r>
              <a:rPr lang="en-IN">
                <a:latin typeface="Calisto MT"/>
              </a:rPr>
              <a:t>(iii) Few studies combine multiple deepfake generation techniques (</a:t>
            </a:r>
            <a:r>
              <a:rPr lang="en-IN" err="1">
                <a:latin typeface="Calisto MT"/>
              </a:rPr>
              <a:t>FaceSwap</a:t>
            </a:r>
            <a:r>
              <a:rPr lang="en-IN">
                <a:latin typeface="Calisto MT"/>
              </a:rPr>
              <a:t>, Face2Face, </a:t>
            </a:r>
            <a:r>
              <a:rPr lang="en-IN" err="1">
                <a:latin typeface="Calisto MT"/>
              </a:rPr>
              <a:t>NeuralTextures</a:t>
            </a:r>
            <a:r>
              <a:rPr lang="en-IN">
                <a:latin typeface="Calisto MT"/>
              </a:rPr>
              <a:t>, </a:t>
            </a:r>
            <a:r>
              <a:rPr lang="en-IN" err="1">
                <a:latin typeface="Calisto MT"/>
              </a:rPr>
              <a:t>FaceShifter</a:t>
            </a:r>
            <a:r>
              <a:rPr lang="en-IN">
                <a:latin typeface="Calisto MT"/>
              </a:rPr>
              <a:t>) in a unified training pipeline.</a:t>
            </a:r>
            <a:endParaRPr lang="en-IN"/>
          </a:p>
          <a:p>
            <a:pPr marL="305435" indent="-305435">
              <a:buFont typeface="Wingdings" panose="05020102010507070707" pitchFamily="18" charset="2"/>
              <a:buChar char="q"/>
            </a:pPr>
            <a:endParaRPr lang="en-IN" sz="1800" b="1">
              <a:latin typeface="Calisto MT"/>
            </a:endParaRPr>
          </a:p>
          <a:p>
            <a:pPr marL="305435" indent="-305435">
              <a:buFont typeface="Wingdings" panose="05020102010507070707" pitchFamily="18" charset="2"/>
              <a:buChar char="q"/>
            </a:pPr>
            <a:endParaRPr lang="en-IN" sz="1800" b="1">
              <a:latin typeface="Calisto MT"/>
            </a:endParaRPr>
          </a:p>
          <a:p>
            <a:pPr marL="305435" indent="-305435">
              <a:buNone/>
            </a:pPr>
            <a:endParaRPr lang="en-IN" sz="1800">
              <a:latin typeface="Calisto MT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37C721-CBB6-E115-9B8A-603FCE4CE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A60F6-7DB0-467E-96ED-BD436AB6B60E}" type="datetime1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09615-AC16-ADD1-B9F7-EBFA6EC17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/>
              <a:t>URP 4301 - Final Year Research Project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5E9137-B570-9F99-3E80-F3FB07005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19013474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90DAA-817F-4E07-C0A6-CFC83BABF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3A9B5-CF88-F712-BE3C-AE14DB5C8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/>
              <a:t>Research Gap &amp; Improvements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7E9CB42-92D9-878C-288D-BD2633B895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330" y="1290870"/>
            <a:ext cx="11745157" cy="505139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sz="1800" b="1">
              <a:latin typeface="Calisto MT"/>
            </a:endParaRPr>
          </a:p>
          <a:p>
            <a:pPr marL="305435" indent="-305435">
              <a:buFont typeface="Wingdings" panose="05020102010507070707" pitchFamily="18" charset="2"/>
              <a:buChar char="q"/>
            </a:pPr>
            <a:r>
              <a:rPr lang="en-IN" sz="3200" b="1">
                <a:latin typeface="Calisto MT"/>
              </a:rPr>
              <a:t>Our Improvements</a:t>
            </a:r>
            <a:endParaRPr lang="en-IN" sz="3200" b="1"/>
          </a:p>
          <a:p>
            <a:pPr marL="0" indent="0">
              <a:buNone/>
            </a:pPr>
            <a:endParaRPr lang="en-IN" sz="2400">
              <a:latin typeface="Calisto MT"/>
            </a:endParaRPr>
          </a:p>
          <a:p>
            <a:pPr marL="0" indent="0">
              <a:buNone/>
            </a:pPr>
            <a:r>
              <a:rPr lang="en-IN">
                <a:latin typeface="Calisto MT"/>
              </a:rPr>
              <a:t>(</a:t>
            </a:r>
            <a:r>
              <a:rPr lang="en-IN" err="1">
                <a:latin typeface="Calisto MT"/>
              </a:rPr>
              <a:t>i</a:t>
            </a:r>
            <a:r>
              <a:rPr lang="en-IN">
                <a:latin typeface="Calisto MT"/>
              </a:rPr>
              <a:t>) Combined CelebDF-V2 and </a:t>
            </a:r>
            <a:r>
              <a:rPr lang="en-IN" err="1">
                <a:latin typeface="Calisto MT"/>
              </a:rPr>
              <a:t>FaceForensics</a:t>
            </a:r>
            <a:r>
              <a:rPr lang="en-IN">
                <a:latin typeface="Calisto MT"/>
              </a:rPr>
              <a:t>++ into a single unified dataset covering 6 manipulation methods for robust cross-dataset training.</a:t>
            </a:r>
            <a:endParaRPr lang="en-IN"/>
          </a:p>
          <a:p>
            <a:pPr marL="342900" indent="-342900">
              <a:buFont typeface="Wingdings" panose="05020102010507070707" pitchFamily="18" charset="2"/>
              <a:buChar char="q"/>
            </a:pPr>
            <a:endParaRPr lang="en-IN">
              <a:latin typeface="Calisto MT"/>
            </a:endParaRPr>
          </a:p>
          <a:p>
            <a:pPr marL="0" indent="0">
              <a:buNone/>
            </a:pPr>
            <a:r>
              <a:rPr lang="en-IN">
                <a:latin typeface="Calisto MT"/>
              </a:rPr>
              <a:t>(ii) Introduced a CNN-Transformer Hybrid model that uses a Transformer Encoder on top of EfficientNet-B3 to capture long-range facial dependencies.</a:t>
            </a:r>
            <a:endParaRPr lang="en-IN"/>
          </a:p>
          <a:p>
            <a:pPr marL="342900" indent="-342900">
              <a:buFont typeface="Wingdings" panose="05020102010507070707" pitchFamily="18" charset="2"/>
              <a:buChar char="q"/>
            </a:pPr>
            <a:endParaRPr lang="en-IN" b="1">
              <a:latin typeface="Calisto MT"/>
            </a:endParaRPr>
          </a:p>
          <a:p>
            <a:pPr marL="0" indent="0">
              <a:buNone/>
            </a:pPr>
            <a:r>
              <a:rPr lang="en-IN">
                <a:latin typeface="Calisto MT"/>
              </a:rPr>
              <a:t>(iii) Applied </a:t>
            </a:r>
            <a:r>
              <a:rPr lang="en-IN" err="1">
                <a:latin typeface="Calisto MT"/>
              </a:rPr>
              <a:t>RandAugment</a:t>
            </a:r>
            <a:r>
              <a:rPr lang="en-IN">
                <a:latin typeface="Calisto MT"/>
              </a:rPr>
              <a:t>, </a:t>
            </a:r>
            <a:r>
              <a:rPr lang="en-IN" err="1">
                <a:latin typeface="Calisto MT"/>
              </a:rPr>
              <a:t>ColorJitter</a:t>
            </a:r>
            <a:r>
              <a:rPr lang="en-IN">
                <a:latin typeface="Calisto MT"/>
              </a:rPr>
              <a:t>, warmup scheduling, cosine annealing LR, and AMP training for improved generalization and efficiency.</a:t>
            </a:r>
            <a:endParaRPr lang="en-IN" b="1">
              <a:latin typeface="Calisto MT"/>
            </a:endParaRPr>
          </a:p>
          <a:p>
            <a:pPr marL="305435" indent="-305435">
              <a:buFont typeface="Wingdings" panose="05020102010507070707" pitchFamily="18" charset="2"/>
              <a:buChar char="q"/>
            </a:pPr>
            <a:endParaRPr lang="en-IN" sz="2000" b="1">
              <a:latin typeface="Calisto MT"/>
            </a:endParaRPr>
          </a:p>
          <a:p>
            <a:pPr marL="305435" indent="-305435">
              <a:buNone/>
            </a:pPr>
            <a:endParaRPr lang="en-IN" sz="2000">
              <a:latin typeface="Calisto MT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BD13F9-2D22-A9A2-725C-88B903468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A60F6-7DB0-467E-96ED-BD436AB6B60E}" type="datetime1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830E83-6532-FCE2-FDAB-4CE67033B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/>
              <a:t>URP 4301 - Final Year Research Project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9A4947-C169-2016-81F3-B8474BCF1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34546000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A1CC6-4242-C511-5C00-562F84E68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3382B-0AD0-28BC-DCD8-F299E41B8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Proposed Solution &amp; Architecture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2E86B6-416B-B50E-E96C-9AA699860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A60F6-7DB0-467E-96ED-BD436AB6B60E}" type="datetime1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0C20E3-97B4-A75F-835E-B6104DC05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/>
              <a:t>URP 4301 - Final Year Research Project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38F063-ACF1-EC40-D86E-0A5076AF9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endParaRPr lang="en-US" b="1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BD46FA4-4FEB-B552-44F1-A5D5164966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 sz="2000">
              <a:latin typeface="Calisto MT"/>
            </a:endParaRPr>
          </a:p>
          <a:p>
            <a:pPr marL="0" indent="0">
              <a:buNone/>
            </a:pPr>
            <a:r>
              <a:rPr lang="en-US" sz="2000" b="1" dirty="0">
                <a:latin typeface="Calisto MT"/>
              </a:rPr>
              <a:t>Model – 1 : </a:t>
            </a:r>
            <a:r>
              <a:rPr lang="en-US" sz="2000" b="1" dirty="0" err="1">
                <a:latin typeface="Calisto MT"/>
              </a:rPr>
              <a:t>EfficientNet</a:t>
            </a:r>
            <a:r>
              <a:rPr lang="en-US" sz="2000" b="1" dirty="0">
                <a:latin typeface="Calisto MT"/>
              </a:rPr>
              <a:t> – B0 (CNN Baseline)                   Model 2: CNN-Transformer Hybrid</a:t>
            </a:r>
          </a:p>
          <a:p>
            <a:pPr marL="0" indent="0">
              <a:buNone/>
            </a:pPr>
            <a:endParaRPr lang="en-US" sz="2000">
              <a:latin typeface="Calisto MT"/>
            </a:endParaRPr>
          </a:p>
          <a:p>
            <a:pPr marL="0" indent="0">
              <a:buNone/>
            </a:pPr>
            <a:endParaRPr lang="en-US" sz="1800" dirty="0">
              <a:latin typeface="Calisto MT"/>
            </a:endParaRPr>
          </a:p>
          <a:p>
            <a:pPr marL="0" indent="0">
              <a:buNone/>
            </a:pPr>
            <a:r>
              <a:rPr lang="en-US" sz="1800" dirty="0">
                <a:latin typeface="Calisto MT"/>
              </a:rPr>
              <a:t>(</a:t>
            </a:r>
            <a:r>
              <a:rPr lang="en-US" sz="1800" dirty="0" err="1">
                <a:latin typeface="Calisto MT"/>
              </a:rPr>
              <a:t>i</a:t>
            </a:r>
            <a:r>
              <a:rPr lang="en-US" sz="1800" dirty="0">
                <a:latin typeface="Calisto MT"/>
              </a:rPr>
              <a:t>) Pretrained EfficientNet-B0 backbone (ImageNet weights)    (</a:t>
            </a:r>
            <a:r>
              <a:rPr lang="en-US" sz="1800" dirty="0" err="1">
                <a:latin typeface="Calisto MT"/>
              </a:rPr>
              <a:t>i</a:t>
            </a:r>
            <a:r>
              <a:rPr lang="en-US" sz="1800" dirty="0">
                <a:latin typeface="Calisto MT"/>
              </a:rPr>
              <a:t>) Used </a:t>
            </a:r>
            <a:r>
              <a:rPr lang="en-US" sz="1800" b="1" dirty="0">
                <a:latin typeface="Calisto MT"/>
              </a:rPr>
              <a:t>EfficientNet-B3</a:t>
            </a:r>
            <a:r>
              <a:rPr lang="en-US" sz="1800" dirty="0">
                <a:latin typeface="Calisto MT"/>
              </a:rPr>
              <a:t> as the CNN backbone for .</a:t>
            </a:r>
            <a:endParaRPr lang="en-US"/>
          </a:p>
          <a:p>
            <a:pPr marL="0" indent="0">
              <a:buNone/>
            </a:pPr>
            <a:r>
              <a:rPr lang="en-US" sz="1800">
                <a:latin typeface="Calisto MT"/>
              </a:rPr>
              <a:t>                                                                                                            extracting spatial feature maps</a:t>
            </a:r>
          </a:p>
          <a:p>
            <a:pPr marL="0" indent="0">
              <a:buNone/>
            </a:pPr>
            <a:r>
              <a:rPr lang="en-US" sz="1800">
                <a:latin typeface="Calisto MT"/>
              </a:rPr>
              <a:t>(ii) Custom classification head : Linear layer (1280 → 512) </a:t>
            </a:r>
          </a:p>
          <a:p>
            <a:pPr marL="0" indent="0">
              <a:buNone/>
            </a:pPr>
            <a:r>
              <a:rPr lang="en-US" sz="1800" dirty="0">
                <a:latin typeface="Calisto MT"/>
              </a:rPr>
              <a:t>      → </a:t>
            </a:r>
            <a:r>
              <a:rPr lang="en-US" sz="1800" dirty="0" err="1">
                <a:latin typeface="Calisto MT"/>
              </a:rPr>
              <a:t>ReLU</a:t>
            </a:r>
            <a:r>
              <a:rPr lang="en-US" sz="1800" dirty="0">
                <a:latin typeface="Calisto MT"/>
              </a:rPr>
              <a:t> activation →  Dropout (0.4) → Final Linear        (ii) Generated spatial features in the form </a:t>
            </a:r>
            <a:r>
              <a:rPr lang="en-US" sz="1800" b="1" dirty="0">
                <a:latin typeface="Calisto MT"/>
              </a:rPr>
              <a:t>(B, C, H, W)</a:t>
            </a:r>
            <a:r>
              <a:rPr lang="en-US" sz="1800" dirty="0">
                <a:latin typeface="Calisto MT"/>
              </a:rPr>
              <a:t>. </a:t>
            </a:r>
            <a:endParaRPr lang="en-US" dirty="0"/>
          </a:p>
          <a:p>
            <a:pPr marL="0" indent="0">
              <a:buNone/>
            </a:pPr>
            <a:r>
              <a:rPr lang="en-US" sz="1800">
                <a:latin typeface="Calisto MT"/>
              </a:rPr>
              <a:t>      layer (512 → 2)</a:t>
            </a:r>
            <a:endParaRPr lang="en-US" sz="1700">
              <a:solidFill>
                <a:srgbClr val="000000"/>
              </a:solidFill>
              <a:latin typeface="Calisto MT"/>
            </a:endParaRPr>
          </a:p>
          <a:p>
            <a:pPr marL="0" indent="0">
              <a:buNone/>
            </a:pPr>
            <a:r>
              <a:rPr lang="en-US" sz="1800">
                <a:latin typeface="Calisto MT"/>
              </a:rPr>
              <a:t>                                                                                                       (iii) Applied </a:t>
            </a:r>
            <a:r>
              <a:rPr lang="en-US" sz="1700">
                <a:latin typeface="Calisto MT"/>
              </a:rPr>
              <a:t>Layer Normalization and Linear Projection to </a:t>
            </a:r>
            <a:endParaRPr lang="en-US" sz="1700">
              <a:solidFill>
                <a:srgbClr val="3D3D3D"/>
              </a:solidFill>
              <a:latin typeface="Calisto MT"/>
            </a:endParaRPr>
          </a:p>
          <a:p>
            <a:pPr marL="0" indent="0">
              <a:buNone/>
            </a:pPr>
            <a:r>
              <a:rPr lang="en-US" sz="1800">
                <a:latin typeface="Calisto MT"/>
              </a:rPr>
              <a:t>(iii) Used a single learning rate of </a:t>
            </a:r>
            <a:r>
              <a:rPr lang="en-US" sz="1800" b="1">
                <a:latin typeface="Calisto MT"/>
              </a:rPr>
              <a:t>1e-4</a:t>
            </a:r>
            <a:r>
              <a:rPr lang="en-US" sz="1800">
                <a:latin typeface="Calisto MT"/>
              </a:rPr>
              <a:t>.                                             embedding dimension 256</a:t>
            </a:r>
            <a:endParaRPr lang="en-US" sz="1800"/>
          </a:p>
          <a:p>
            <a:pPr marL="285750" indent="-285750">
              <a:buFont typeface="Wingdings" panose="05020102010507070707" pitchFamily="18" charset="2"/>
              <a:buChar char="§"/>
            </a:pPr>
            <a:endParaRPr lang="en-US" sz="1800">
              <a:latin typeface="Calisto MT"/>
            </a:endParaRPr>
          </a:p>
          <a:p>
            <a:pPr marL="0" indent="0">
              <a:buNone/>
            </a:pPr>
            <a:r>
              <a:rPr lang="en-US" sz="1800" dirty="0">
                <a:latin typeface="Calisto MT"/>
              </a:rPr>
              <a:t>(iv) Backbone layers were frozen during the initial warmup      (iv) Transformer Encoder configuration : ( 2 layers, 4 </a:t>
            </a:r>
          </a:p>
          <a:p>
            <a:pPr marL="0" indent="0">
              <a:buNone/>
            </a:pPr>
            <a:r>
              <a:rPr lang="en-US" sz="1800">
                <a:latin typeface="Calisto MT"/>
              </a:rPr>
              <a:t>     phase of 3 epochs.                                                                          attention heads, pre-layer normalization, Dropout </a:t>
            </a:r>
          </a:p>
          <a:p>
            <a:pPr marL="0" indent="0">
              <a:buNone/>
            </a:pPr>
            <a:r>
              <a:rPr lang="en-US" sz="1800">
                <a:latin typeface="Calisto MT"/>
              </a:rPr>
              <a:t>                                                                                                              rate of </a:t>
            </a:r>
            <a:r>
              <a:rPr lang="en-US" sz="1800" b="1">
                <a:latin typeface="Calisto MT"/>
              </a:rPr>
              <a:t>0.3</a:t>
            </a:r>
            <a:r>
              <a:rPr lang="en-US" sz="1800">
                <a:latin typeface="Calisto MT"/>
              </a:rPr>
              <a:t>.</a:t>
            </a:r>
          </a:p>
          <a:p>
            <a:pPr marL="0" indent="0">
              <a:buNone/>
            </a:pPr>
            <a:r>
              <a:rPr lang="en-US" sz="1800">
                <a:latin typeface="Calisto MT"/>
              </a:rPr>
              <a:t>.                    </a:t>
            </a:r>
          </a:p>
          <a:p>
            <a:pPr marL="0" indent="0">
              <a:buNone/>
            </a:pPr>
            <a:r>
              <a:rPr lang="en-US" sz="1800">
                <a:latin typeface="Calisto MT"/>
              </a:rPr>
              <a:t>                                                                                                       </a:t>
            </a:r>
            <a:endParaRPr lang="en-US" sz="1800" b="1">
              <a:latin typeface="Calisto MT"/>
            </a:endParaRPr>
          </a:p>
          <a:p>
            <a:pPr marL="285750" indent="-285750">
              <a:buFont typeface="Wingdings" panose="05020102010507070707" pitchFamily="18" charset="2"/>
              <a:buChar char="§"/>
            </a:pPr>
            <a:endParaRPr lang="en-US" sz="1800">
              <a:latin typeface="Calisto MT"/>
            </a:endParaRPr>
          </a:p>
          <a:p>
            <a:pPr marL="0" indent="0">
              <a:buNone/>
            </a:pPr>
            <a:endParaRPr lang="en-US" sz="1800">
              <a:latin typeface="Calisto MT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F330A89-0754-E2D3-E227-49B8BC91D14C}"/>
              </a:ext>
            </a:extLst>
          </p:cNvPr>
          <p:cNvSpPr/>
          <p:nvPr/>
        </p:nvSpPr>
        <p:spPr>
          <a:xfrm>
            <a:off x="374960" y="1285519"/>
            <a:ext cx="1806118" cy="12460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b="1"/>
          </a:p>
          <a:p>
            <a:pPr algn="ctr"/>
            <a:r>
              <a:rPr lang="en-US" sz="1600" b="1"/>
              <a:t>Input Images </a:t>
            </a:r>
            <a:endParaRPr lang="en-US"/>
          </a:p>
          <a:p>
            <a:pPr algn="ctr"/>
            <a:endParaRPr lang="en-US" sz="1600"/>
          </a:p>
          <a:p>
            <a:pPr algn="ctr"/>
            <a:r>
              <a:rPr lang="en-US" sz="1400"/>
              <a:t>CelebDF-V2 &amp; </a:t>
            </a:r>
            <a:r>
              <a:rPr lang="en-US" sz="1400" err="1"/>
              <a:t>Faceforensics</a:t>
            </a:r>
            <a:r>
              <a:rPr lang="en-US" sz="1400"/>
              <a:t>++ raw frames</a:t>
            </a:r>
          </a:p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FDD5CAC-2E0F-0850-1878-2D1128CB6A2D}"/>
              </a:ext>
            </a:extLst>
          </p:cNvPr>
          <p:cNvCxnSpPr/>
          <p:nvPr/>
        </p:nvCxnSpPr>
        <p:spPr>
          <a:xfrm flipV="1">
            <a:off x="2212144" y="1890123"/>
            <a:ext cx="8512556" cy="14007"/>
          </a:xfrm>
          <a:prstGeom prst="straightConnector1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F4FF322B-9799-1650-AE0D-407B6EB1C6B4}"/>
              </a:ext>
            </a:extLst>
          </p:cNvPr>
          <p:cNvSpPr/>
          <p:nvPr/>
        </p:nvSpPr>
        <p:spPr>
          <a:xfrm>
            <a:off x="2817535" y="1285519"/>
            <a:ext cx="1806118" cy="124608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1600" b="1"/>
          </a:p>
          <a:p>
            <a:pPr algn="ctr"/>
            <a:r>
              <a:rPr lang="en-US" sz="1600" b="1"/>
              <a:t>MTCNN Face Detection</a:t>
            </a:r>
            <a:endParaRPr lang="en-US"/>
          </a:p>
          <a:p>
            <a:pPr algn="ctr"/>
            <a:endParaRPr lang="en-US" sz="1400"/>
          </a:p>
          <a:p>
            <a:pPr algn="ctr"/>
            <a:r>
              <a:rPr lang="en-US" sz="1400"/>
              <a:t>Crop and align faces to 224 x 224</a:t>
            </a:r>
            <a:endParaRPr lang="en-US"/>
          </a:p>
          <a:p>
            <a:pPr algn="ctr"/>
            <a:endParaRPr lang="en-US" sz="16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B0D55B2-BD7A-081F-04BC-1ADCA036A1C9}"/>
              </a:ext>
            </a:extLst>
          </p:cNvPr>
          <p:cNvSpPr/>
          <p:nvPr/>
        </p:nvSpPr>
        <p:spPr>
          <a:xfrm>
            <a:off x="5374932" y="1285519"/>
            <a:ext cx="1806118" cy="124608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 b="1"/>
              <a:t>Data Augmentation</a:t>
            </a:r>
          </a:p>
          <a:p>
            <a:pPr algn="ctr"/>
            <a:endParaRPr lang="en-US" sz="1600" b="1"/>
          </a:p>
          <a:p>
            <a:pPr algn="ctr"/>
            <a:r>
              <a:rPr lang="en-US" sz="1400" err="1"/>
              <a:t>RandAugment</a:t>
            </a:r>
            <a:r>
              <a:rPr lang="en-US" sz="1400"/>
              <a:t>, ColorJitter, Flip 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157E1C9-0618-3C98-0BF2-8AB0EC091607}"/>
              </a:ext>
            </a:extLst>
          </p:cNvPr>
          <p:cNvSpPr/>
          <p:nvPr/>
        </p:nvSpPr>
        <p:spPr>
          <a:xfrm>
            <a:off x="7796630" y="1264642"/>
            <a:ext cx="1806118" cy="124608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 b="1"/>
              <a:t>Model Training</a:t>
            </a:r>
            <a:endParaRPr lang="en-US"/>
          </a:p>
          <a:p>
            <a:pPr algn="ctr"/>
            <a:endParaRPr lang="en-US" sz="1600" b="1"/>
          </a:p>
          <a:p>
            <a:pPr algn="ctr"/>
            <a:r>
              <a:rPr lang="en-US" sz="1400" err="1"/>
              <a:t>EfficientNet</a:t>
            </a:r>
            <a:r>
              <a:rPr lang="en-US" sz="1400"/>
              <a:t>-B0</a:t>
            </a:r>
          </a:p>
          <a:p>
            <a:pPr algn="ctr"/>
            <a:r>
              <a:rPr lang="en-US" sz="1400"/>
              <a:t>CNN Transformer Hybrid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AE88E8C-CE96-D432-DA2B-E99E5374144C}"/>
              </a:ext>
            </a:extLst>
          </p:cNvPr>
          <p:cNvSpPr/>
          <p:nvPr/>
        </p:nvSpPr>
        <p:spPr>
          <a:xfrm>
            <a:off x="10207891" y="1264641"/>
            <a:ext cx="1806118" cy="12460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 b="1"/>
              <a:t>Evaluation &amp; Visualization</a:t>
            </a:r>
          </a:p>
          <a:p>
            <a:pPr algn="ctr"/>
            <a:endParaRPr lang="en-US" sz="1600" b="1"/>
          </a:p>
          <a:p>
            <a:pPr algn="ctr"/>
            <a:r>
              <a:rPr lang="en-US" sz="1400"/>
              <a:t>Accuracy,  AUC-ROC, Confusion Matrix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066AE20-1106-5A1B-BBEE-779D8A5447ED}"/>
              </a:ext>
            </a:extLst>
          </p:cNvPr>
          <p:cNvCxnSpPr/>
          <p:nvPr/>
        </p:nvCxnSpPr>
        <p:spPr>
          <a:xfrm>
            <a:off x="6261152" y="2629377"/>
            <a:ext cx="28001" cy="3528230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14077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5E3C2-1849-EADF-1769-CA683C96B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Proposed Solution &amp; Architecture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519793-4469-C6E3-369C-C4A1DCDC5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A60F6-7DB0-467E-96ED-BD436AB6B60E}" type="datetime1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BB1850-93E8-19EB-2B73-085D6B5CF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/>
              <a:t>URP 4301 - Final Year Research Project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84C427-8568-76D4-8237-2BC1D0EDA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13</a:t>
            </a:fld>
            <a:endParaRPr lang="en-US" b="1"/>
          </a:p>
        </p:txBody>
      </p:sp>
      <p:pic>
        <p:nvPicPr>
          <p:cNvPr id="13" name="Content Placeholder 12" descr="A diagram of a data processing process&#10;&#10;AI-generated content may be incorrect.">
            <a:extLst>
              <a:ext uri="{FF2B5EF4-FFF2-40B4-BE49-F238E27FC236}">
                <a16:creationId xmlns:a16="http://schemas.microsoft.com/office/drawing/2014/main" id="{2F291CE3-135C-0609-C05E-5F094EF0EC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29034" y="1132866"/>
            <a:ext cx="9214326" cy="5210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46911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C7F74-205B-63C5-D428-510BE3801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Dataset Description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AEC24E8-8F64-3698-E13E-A765CD8BE5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20102010507070707" pitchFamily="18" charset="2"/>
              <a:buChar char="§"/>
            </a:pPr>
            <a:r>
              <a:rPr lang="en-IN" sz="2600" b="1" dirty="0">
                <a:latin typeface="Calisto MT"/>
              </a:rPr>
              <a:t>Dataset 1 : </a:t>
            </a:r>
            <a:r>
              <a:rPr lang="en-IN" sz="2600" b="1" dirty="0" err="1">
                <a:latin typeface="Calisto MT"/>
              </a:rPr>
              <a:t>CelebDF</a:t>
            </a:r>
            <a:r>
              <a:rPr lang="en-IN" sz="2600" b="1" dirty="0">
                <a:latin typeface="Calisto MT"/>
              </a:rPr>
              <a:t> - V2 </a:t>
            </a:r>
            <a:r>
              <a:rPr lang="en-IN" sz="2000" b="1" dirty="0">
                <a:latin typeface="Calisto MT"/>
              </a:rPr>
              <a:t> (</a:t>
            </a:r>
            <a:r>
              <a:rPr lang="en-IN" sz="2000" dirty="0">
                <a:latin typeface="Calisto MT"/>
              </a:rPr>
              <a:t>https://www.kaggle.com/datasets/reubensuju/celeb-df-v2)</a:t>
            </a:r>
            <a:endParaRPr lang="en-US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B8C34B-4D90-7018-52E5-4AC6F9D51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A60F6-7DB0-467E-96ED-BD436AB6B60E}" type="datetime1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760E05-876C-2FF6-3B74-16577BE46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/>
              <a:t>URP 4301 - Final Year Research Project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606754-A01F-E2CA-5769-96082A830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14</a:t>
            </a:fld>
            <a:endParaRPr lang="en-US" b="1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5137DA1-CD0B-C66B-BE69-C68801BA58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3567614"/>
              </p:ext>
            </p:extLst>
          </p:nvPr>
        </p:nvGraphicFramePr>
        <p:xfrm>
          <a:off x="386219" y="1711890"/>
          <a:ext cx="11538057" cy="4651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5882">
                  <a:extLst>
                    <a:ext uri="{9D8B030D-6E8A-4147-A177-3AD203B41FA5}">
                      <a16:colId xmlns:a16="http://schemas.microsoft.com/office/drawing/2014/main" val="633254439"/>
                    </a:ext>
                  </a:extLst>
                </a:gridCol>
                <a:gridCol w="7952175">
                  <a:extLst>
                    <a:ext uri="{9D8B030D-6E8A-4147-A177-3AD203B41FA5}">
                      <a16:colId xmlns:a16="http://schemas.microsoft.com/office/drawing/2014/main" val="1232780767"/>
                    </a:ext>
                  </a:extLst>
                </a:gridCol>
              </a:tblGrid>
              <a:tr h="581466">
                <a:tc>
                  <a:txBody>
                    <a:bodyPr/>
                    <a:lstStyle/>
                    <a:p>
                      <a:r>
                        <a:rPr lang="en-US" sz="2400" b="0">
                          <a:solidFill>
                            <a:schemeClr val="tx1"/>
                          </a:solidFill>
                        </a:rPr>
                        <a:t>Sources :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err="1">
                          <a:solidFill>
                            <a:schemeClr val="tx1"/>
                          </a:solidFill>
                        </a:rPr>
                        <a:t>Youtube</a:t>
                      </a:r>
                      <a:r>
                        <a:rPr lang="en-US" sz="2400" b="0">
                          <a:solidFill>
                            <a:schemeClr val="tx1"/>
                          </a:solidFill>
                        </a:rPr>
                        <a:t> celebrity videos</a:t>
                      </a: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1018377"/>
                  </a:ext>
                </a:extLst>
              </a:tr>
              <a:tr h="581466">
                <a:tc>
                  <a:txBody>
                    <a:bodyPr/>
                    <a:lstStyle/>
                    <a:p>
                      <a:r>
                        <a:rPr lang="en-US" sz="2400">
                          <a:solidFill>
                            <a:schemeClr val="tx1"/>
                          </a:solidFill>
                        </a:rPr>
                        <a:t>Real  Videos :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590 real videos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4924229"/>
                  </a:ext>
                </a:extLst>
              </a:tr>
              <a:tr h="581466">
                <a:tc>
                  <a:txBody>
                    <a:bodyPr/>
                    <a:lstStyle/>
                    <a:p>
                      <a:r>
                        <a:rPr lang="en-US" sz="2400"/>
                        <a:t>Fake Videos : </a:t>
                      </a: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5,639 </a:t>
                      </a:r>
                      <a:r>
                        <a:rPr lang="en-US" sz="2400" err="1"/>
                        <a:t>deepfa</a:t>
                      </a:r>
                      <a:r>
                        <a:rPr lang="en-US" sz="2400"/>
                        <a:t>ke videos (GAN-based face swap)</a:t>
                      </a: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3184538"/>
                  </a:ext>
                </a:extLst>
              </a:tr>
              <a:tr h="581466">
                <a:tc>
                  <a:txBody>
                    <a:bodyPr/>
                    <a:lstStyle/>
                    <a:p>
                      <a:r>
                        <a:rPr lang="en-US" sz="2400"/>
                        <a:t>Image Split :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Train / Val / Test (pre-split)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2844359"/>
                  </a:ext>
                </a:extLst>
              </a:tr>
              <a:tr h="581466">
                <a:tc>
                  <a:txBody>
                    <a:bodyPr/>
                    <a:lstStyle/>
                    <a:p>
                      <a:r>
                        <a:rPr lang="en-US" sz="2400"/>
                        <a:t>Train Images :</a:t>
                      </a: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~ 40,933 real + ~ 41,254 fake faces </a:t>
                      </a: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5580668"/>
                  </a:ext>
                </a:extLst>
              </a:tr>
              <a:tr h="581466">
                <a:tc>
                  <a:txBody>
                    <a:bodyPr/>
                    <a:lstStyle/>
                    <a:p>
                      <a:r>
                        <a:rPr lang="en-US" sz="2400"/>
                        <a:t>Val Images :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~ 5,718 real + ~ 5,762 fake faces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4417192"/>
                  </a:ext>
                </a:extLst>
              </a:tr>
              <a:tr h="581466">
                <a:tc>
                  <a:txBody>
                    <a:bodyPr/>
                    <a:lstStyle/>
                    <a:p>
                      <a:r>
                        <a:rPr lang="en-US" sz="2400"/>
                        <a:t>Test Images : </a:t>
                      </a: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~ 5,742 real + ~ 5,805 fake faces </a:t>
                      </a: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2681101"/>
                  </a:ext>
                </a:extLst>
              </a:tr>
              <a:tr h="581466">
                <a:tc>
                  <a:txBody>
                    <a:bodyPr/>
                    <a:lstStyle/>
                    <a:p>
                      <a:r>
                        <a:rPr lang="en-US" sz="2400"/>
                        <a:t>Resolution :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224 x 224 </a:t>
                      </a:r>
                      <a:r>
                        <a:rPr lang="en-US" sz="2400" err="1"/>
                        <a:t>px</a:t>
                      </a:r>
                      <a:r>
                        <a:rPr lang="en-US" sz="2400"/>
                        <a:t> (after MTCNN crop)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97794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33860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53984-1F31-9743-1F03-BBBB72650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5247B-3071-5490-CF78-0B3FE2CFC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Dataset Description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8B9B04A-4BAF-FF92-9959-DACDF40BE1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20102010507070707" pitchFamily="18" charset="2"/>
              <a:buChar char="§"/>
            </a:pPr>
            <a:r>
              <a:rPr lang="en-IN" sz="2400" b="1" dirty="0">
                <a:latin typeface="Calisto MT"/>
              </a:rPr>
              <a:t>Dataset </a:t>
            </a:r>
            <a:r>
              <a:rPr lang="en-IN" sz="2400" b="1" dirty="0" err="1">
                <a:latin typeface="Calisto MT"/>
              </a:rPr>
              <a:t>FaceForensics</a:t>
            </a:r>
            <a:r>
              <a:rPr lang="en-IN" sz="2400" b="1" dirty="0">
                <a:latin typeface="Calisto MT"/>
              </a:rPr>
              <a:t>++(C23)  </a:t>
            </a:r>
            <a:endParaRPr lang="en-US" dirty="0"/>
          </a:p>
          <a:p>
            <a:pPr marL="0" indent="0">
              <a:buNone/>
            </a:pPr>
            <a:r>
              <a:rPr lang="en-IN" sz="2400" b="1">
                <a:latin typeface="Calisto MT"/>
              </a:rPr>
              <a:t>    (</a:t>
            </a:r>
            <a:r>
              <a:rPr lang="en-IN" sz="2400">
                <a:latin typeface="Calisto MT"/>
              </a:rPr>
              <a:t>https://www.kaggle.com/datasets/greatgamedota/faceforensics)</a:t>
            </a:r>
            <a:r>
              <a:rPr lang="en-IN" b="1" dirty="0">
                <a:latin typeface="Calisto MT"/>
              </a:rPr>
              <a:t> </a:t>
            </a:r>
            <a:endParaRPr lang="en-US" dirty="0"/>
          </a:p>
          <a:p>
            <a:pPr marL="305435" indent="-305435">
              <a:buFont typeface="Wingdings" panose="05020102010507070707" pitchFamily="18" charset="2"/>
              <a:buChar char="§"/>
            </a:pPr>
            <a:endParaRPr lang="en-IN" sz="3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70B21E-E87C-4914-F13F-3E6D468F7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A60F6-7DB0-467E-96ED-BD436AB6B60E}" type="datetime1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B6BC00-0BB6-F08D-CDDC-653C5D61C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/>
              <a:t>URP 4301 - Final Year Research Project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19758C-EF60-41A7-C18C-DB2C04201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15</a:t>
            </a:fld>
            <a:endParaRPr lang="en-US" b="1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9DFE506-24BD-1234-D9FE-48531B0323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4514395"/>
              </p:ext>
            </p:extLst>
          </p:nvPr>
        </p:nvGraphicFramePr>
        <p:xfrm>
          <a:off x="271397" y="2004164"/>
          <a:ext cx="11725249" cy="4369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78088">
                  <a:extLst>
                    <a:ext uri="{9D8B030D-6E8A-4147-A177-3AD203B41FA5}">
                      <a16:colId xmlns:a16="http://schemas.microsoft.com/office/drawing/2014/main" val="2502650839"/>
                    </a:ext>
                  </a:extLst>
                </a:gridCol>
                <a:gridCol w="7747161">
                  <a:extLst>
                    <a:ext uri="{9D8B030D-6E8A-4147-A177-3AD203B41FA5}">
                      <a16:colId xmlns:a16="http://schemas.microsoft.com/office/drawing/2014/main" val="786123398"/>
                    </a:ext>
                  </a:extLst>
                </a:gridCol>
              </a:tblGrid>
              <a:tr h="503124">
                <a:tc>
                  <a:txBody>
                    <a:bodyPr/>
                    <a:lstStyle/>
                    <a:p>
                      <a:r>
                        <a:rPr lang="en-US" sz="2400" b="0" i="0">
                          <a:solidFill>
                            <a:schemeClr val="tx1"/>
                          </a:solidFill>
                        </a:rPr>
                        <a:t>Source : </a:t>
                      </a: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 err="1">
                          <a:solidFill>
                            <a:schemeClr val="tx1"/>
                          </a:solidFill>
                        </a:rPr>
                        <a:t>Youtube</a:t>
                      </a:r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 videos, H.264 compressed (C23)</a:t>
                      </a: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1013611"/>
                  </a:ext>
                </a:extLst>
              </a:tr>
              <a:tr h="503124">
                <a:tc>
                  <a:txBody>
                    <a:bodyPr/>
                    <a:lstStyle/>
                    <a:p>
                      <a:r>
                        <a:rPr lang="en-US" sz="2400"/>
                        <a:t>Real Videos :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1,000 original videos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2527761"/>
                  </a:ext>
                </a:extLst>
              </a:tr>
              <a:tr h="848122">
                <a:tc>
                  <a:txBody>
                    <a:bodyPr/>
                    <a:lstStyle/>
                    <a:p>
                      <a:r>
                        <a:rPr lang="en-US" sz="2400"/>
                        <a:t>Fake Methods : </a:t>
                      </a: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Deepfakes, Face2Face, </a:t>
                      </a:r>
                      <a:r>
                        <a:rPr lang="en-US" sz="2400" dirty="0" err="1"/>
                        <a:t>FaceSwap</a:t>
                      </a:r>
                      <a:r>
                        <a:rPr lang="en-US" sz="2400" dirty="0"/>
                        <a:t>, </a:t>
                      </a:r>
                      <a:r>
                        <a:rPr lang="en-US" sz="2400" dirty="0" err="1"/>
                        <a:t>NeuralTextures</a:t>
                      </a:r>
                      <a:r>
                        <a:rPr lang="en-US" sz="2400" dirty="0"/>
                        <a:t>, </a:t>
                      </a:r>
                      <a:r>
                        <a:rPr lang="en-US" sz="2400" dirty="0" err="1"/>
                        <a:t>FaceShifter</a:t>
                      </a:r>
                      <a:r>
                        <a:rPr lang="en-US" sz="2400" dirty="0"/>
                        <a:t>, </a:t>
                      </a:r>
                      <a:r>
                        <a:rPr lang="en-US" sz="2400" dirty="0" err="1"/>
                        <a:t>DeepFakeDetection</a:t>
                      </a: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8604079"/>
                  </a:ext>
                </a:extLst>
              </a:tr>
              <a:tr h="503124">
                <a:tc>
                  <a:txBody>
                    <a:bodyPr/>
                    <a:lstStyle/>
                    <a:p>
                      <a:r>
                        <a:rPr lang="en-US" sz="2400"/>
                        <a:t>Train Videos :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200 real + 200 fake (10 frames each)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3899629"/>
                  </a:ext>
                </a:extLst>
              </a:tr>
              <a:tr h="503124">
                <a:tc>
                  <a:txBody>
                    <a:bodyPr/>
                    <a:lstStyle/>
                    <a:p>
                      <a:r>
                        <a:rPr lang="en-US" sz="2400"/>
                        <a:t>Val Videos :</a:t>
                      </a: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50 real + 50 fake (10 frames each) </a:t>
                      </a: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8018965"/>
                  </a:ext>
                </a:extLst>
              </a:tr>
              <a:tr h="503124">
                <a:tc>
                  <a:txBody>
                    <a:bodyPr/>
                    <a:lstStyle/>
                    <a:p>
                      <a:r>
                        <a:rPr lang="en-US" sz="2400"/>
                        <a:t>Test Videos :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50 real + 50 fake (10 frames each)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649422"/>
                  </a:ext>
                </a:extLst>
              </a:tr>
              <a:tr h="503124">
                <a:tc>
                  <a:txBody>
                    <a:bodyPr/>
                    <a:lstStyle/>
                    <a:p>
                      <a:r>
                        <a:rPr lang="en-US" sz="2400"/>
                        <a:t>Total frames :</a:t>
                      </a: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~ 5,000 train + 1,000 </a:t>
                      </a:r>
                      <a:r>
                        <a:rPr lang="en-US" sz="2400" dirty="0" err="1"/>
                        <a:t>val</a:t>
                      </a:r>
                      <a:r>
                        <a:rPr lang="en-US" sz="2400" dirty="0"/>
                        <a:t> + 1,000 test</a:t>
                      </a: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8155942"/>
                  </a:ext>
                </a:extLst>
              </a:tr>
              <a:tr h="503124">
                <a:tc>
                  <a:txBody>
                    <a:bodyPr/>
                    <a:lstStyle/>
                    <a:p>
                      <a:r>
                        <a:rPr lang="en-US" sz="2400"/>
                        <a:t>Resolution 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224 x 224 </a:t>
                      </a:r>
                      <a:r>
                        <a:rPr lang="en-US" sz="2400" dirty="0" err="1"/>
                        <a:t>px</a:t>
                      </a:r>
                      <a:r>
                        <a:rPr lang="en-US" sz="2400" dirty="0"/>
                        <a:t> (after MTCNN crop)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92041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31225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12CDB-6E77-C007-66FE-52DD06386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Data Preprocessing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FB7B087-C41E-53DF-617E-4F7FADE0F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330" y="1290870"/>
            <a:ext cx="11745157" cy="5051394"/>
          </a:xfrm>
        </p:spPr>
        <p:txBody>
          <a:bodyPr>
            <a:normAutofit fontScale="92500" lnSpcReduction="10000"/>
          </a:bodyPr>
          <a:lstStyle/>
          <a:p>
            <a:pPr marL="305435" indent="-305435">
              <a:buFont typeface="Wingdings" panose="05020102010507070707" pitchFamily="18" charset="2"/>
              <a:buChar char="q"/>
            </a:pPr>
            <a:r>
              <a:rPr lang="en-IN" sz="2900" b="1">
                <a:latin typeface="Calisto MT"/>
              </a:rPr>
              <a:t>01 — Face Detection with MTCNN</a:t>
            </a:r>
            <a:endParaRPr lang="en-US" sz="2900"/>
          </a:p>
          <a:p>
            <a:pPr marL="0" indent="0">
              <a:buNone/>
            </a:pPr>
            <a:endParaRPr lang="en-IN" sz="2600">
              <a:latin typeface="Calisto MT"/>
            </a:endParaRPr>
          </a:p>
          <a:p>
            <a:pPr marL="0" indent="0">
              <a:buNone/>
            </a:pPr>
            <a:r>
              <a:rPr lang="en-IN" sz="2600">
                <a:latin typeface="Calisto MT"/>
              </a:rPr>
              <a:t>Applied MTCNN (Multi-Task CNN) to detect and crop faces from all images and video frames. Margin of 20px added around each face. Images resized to 320x320 before detection, output saved as 224x224.</a:t>
            </a:r>
          </a:p>
          <a:p>
            <a:pPr marL="0" indent="0">
              <a:buNone/>
            </a:pPr>
            <a:endParaRPr lang="en-IN" sz="2200" b="1">
              <a:latin typeface="Calisto MT"/>
            </a:endParaRPr>
          </a:p>
          <a:p>
            <a:pPr marL="305435" indent="-305435">
              <a:buFont typeface="Wingdings" panose="05020102010507070707" pitchFamily="18" charset="2"/>
              <a:buChar char="q"/>
            </a:pPr>
            <a:r>
              <a:rPr lang="en-IN" b="1">
                <a:latin typeface="Calisto MT"/>
              </a:rPr>
              <a:t>02 — CelebDF-V2 Processing</a:t>
            </a:r>
          </a:p>
          <a:p>
            <a:pPr marL="305435" indent="-305435">
              <a:buFont typeface="Wingdings" panose="05020102010507070707" pitchFamily="18" charset="2"/>
              <a:buChar char="q"/>
            </a:pPr>
            <a:endParaRPr lang="en-IN">
              <a:latin typeface="Calisto MT"/>
            </a:endParaRPr>
          </a:p>
          <a:p>
            <a:pPr marL="0" indent="0">
              <a:buNone/>
            </a:pPr>
            <a:r>
              <a:rPr lang="en-IN">
                <a:latin typeface="Calisto MT"/>
              </a:rPr>
              <a:t>Iterated over Train/Val/Test splits. Sampled every 2nd image to reduce redundancy. Extracted ~20,000 train, ~2,500 </a:t>
            </a:r>
            <a:r>
              <a:rPr lang="en-IN" err="1">
                <a:latin typeface="Calisto MT"/>
              </a:rPr>
              <a:t>val</a:t>
            </a:r>
            <a:r>
              <a:rPr lang="en-IN">
                <a:latin typeface="Calisto MT"/>
              </a:rPr>
              <a:t>, ~2,500 test faces per class (real/fake).</a:t>
            </a:r>
          </a:p>
          <a:p>
            <a:pPr marL="0" indent="0">
              <a:buNone/>
            </a:pPr>
            <a:endParaRPr lang="en-IN">
              <a:latin typeface="Calisto MT"/>
            </a:endParaRPr>
          </a:p>
          <a:p>
            <a:pPr marL="305435" indent="-305435">
              <a:buFont typeface="Wingdings" panose="05020102010507070707" pitchFamily="18" charset="2"/>
              <a:buChar char="q"/>
            </a:pPr>
            <a:r>
              <a:rPr lang="en-IN" b="1">
                <a:latin typeface="Calisto MT"/>
              </a:rPr>
              <a:t>03 — </a:t>
            </a:r>
            <a:r>
              <a:rPr lang="en-IN" b="1" err="1">
                <a:latin typeface="Calisto MT"/>
              </a:rPr>
              <a:t>FaceForensics</a:t>
            </a:r>
            <a:r>
              <a:rPr lang="en-IN" b="1">
                <a:latin typeface="Calisto MT"/>
              </a:rPr>
              <a:t>++ Processing</a:t>
            </a:r>
          </a:p>
          <a:p>
            <a:pPr marL="305435" indent="-305435">
              <a:buFont typeface="Wingdings" panose="05020102010507070707" pitchFamily="18" charset="2"/>
              <a:buChar char="q"/>
            </a:pPr>
            <a:endParaRPr lang="en-IN">
              <a:latin typeface="Calisto MT"/>
            </a:endParaRPr>
          </a:p>
          <a:p>
            <a:pPr marL="0" indent="0">
              <a:buNone/>
            </a:pPr>
            <a:r>
              <a:rPr lang="en-IN">
                <a:latin typeface="Calisto MT"/>
              </a:rPr>
              <a:t>Extracted 10 frames per video at every 10th frame. Processed 200 train, 50 </a:t>
            </a:r>
            <a:r>
              <a:rPr lang="en-IN" err="1">
                <a:latin typeface="Calisto MT"/>
              </a:rPr>
              <a:t>val</a:t>
            </a:r>
            <a:r>
              <a:rPr lang="en-IN">
                <a:latin typeface="Calisto MT"/>
              </a:rPr>
              <a:t>, 50 test videos each for real and fake. Saved ~2,000 train, 500 </a:t>
            </a:r>
            <a:r>
              <a:rPr lang="en-IN" err="1">
                <a:latin typeface="Calisto MT"/>
              </a:rPr>
              <a:t>val</a:t>
            </a:r>
            <a:r>
              <a:rPr lang="en-IN">
                <a:latin typeface="Calisto MT"/>
              </a:rPr>
              <a:t>, 500 test faces per class.</a:t>
            </a:r>
          </a:p>
          <a:p>
            <a:pPr marL="0" indent="0">
              <a:buNone/>
            </a:pPr>
            <a:endParaRPr lang="en-IN" b="1">
              <a:latin typeface="Calisto MT"/>
            </a:endParaRPr>
          </a:p>
          <a:p>
            <a:pPr marL="305435" indent="-305435">
              <a:buFont typeface="Wingdings" panose="05020102010507070707" pitchFamily="18" charset="2"/>
              <a:buChar char="q"/>
            </a:pPr>
            <a:endParaRPr lang="en-IN" sz="2600">
              <a:latin typeface="Calisto MT"/>
            </a:endParaRPr>
          </a:p>
          <a:p>
            <a:pPr marL="305435" indent="-305435">
              <a:buFont typeface="Wingdings" panose="05020102010507070707" pitchFamily="18" charset="2"/>
              <a:buChar char="q"/>
            </a:pP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D23B11-B80E-B853-439C-9B6A865C8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A60F6-7DB0-467E-96ED-BD436AB6B60E}" type="datetime1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64B9AC-F9C5-89EC-86CF-EDA020A84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/>
              <a:t>URP 4301 - Final Year Research Project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A58386-0602-F43D-3246-7CE42CAA7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16</a:t>
            </a:fld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20978387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F21500-D1BF-CAAB-7AC2-A005161B4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25385-C716-E11C-AF86-570A36263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Data Preprocessing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2400BF-F46A-B458-5735-1E3BAD5AB9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330" y="1290870"/>
            <a:ext cx="11745157" cy="5051394"/>
          </a:xfrm>
        </p:spPr>
        <p:txBody>
          <a:bodyPr>
            <a:normAutofit/>
          </a:bodyPr>
          <a:lstStyle/>
          <a:p>
            <a:pPr marL="305435" indent="-305435">
              <a:buFont typeface="Wingdings" panose="05020102010507070707" pitchFamily="18" charset="2"/>
              <a:buChar char="q"/>
            </a:pPr>
            <a:r>
              <a:rPr lang="en-IN" b="1">
                <a:latin typeface="Calisto MT"/>
              </a:rPr>
              <a:t>04 — Dataset Merging</a:t>
            </a:r>
            <a:endParaRPr lang="en-IN" sz="2900" b="1">
              <a:latin typeface="Calisto MT"/>
            </a:endParaRPr>
          </a:p>
          <a:p>
            <a:pPr marL="305435" indent="-305435">
              <a:buFont typeface="Wingdings" panose="05020102010507070707" pitchFamily="18" charset="2"/>
              <a:buChar char="q"/>
            </a:pPr>
            <a:endParaRPr lang="en-IN" sz="2400">
              <a:latin typeface="Calisto MT"/>
            </a:endParaRPr>
          </a:p>
          <a:p>
            <a:pPr marL="0" indent="0">
              <a:buNone/>
            </a:pPr>
            <a:r>
              <a:rPr lang="en-IN" sz="2400">
                <a:latin typeface="Calisto MT"/>
              </a:rPr>
              <a:t>Combined CelebDF-V2 and </a:t>
            </a:r>
            <a:r>
              <a:rPr lang="en-IN" sz="2400" err="1">
                <a:latin typeface="Calisto MT"/>
              </a:rPr>
              <a:t>FaceForensics</a:t>
            </a:r>
            <a:r>
              <a:rPr lang="en-IN" sz="2400">
                <a:latin typeface="Calisto MT"/>
              </a:rPr>
              <a:t>++ outputs into a single directory. Final combined size: ~82,187 train, ~11,480 </a:t>
            </a:r>
            <a:r>
              <a:rPr lang="en-IN" sz="2400" err="1">
                <a:latin typeface="Calisto MT"/>
              </a:rPr>
              <a:t>val</a:t>
            </a:r>
            <a:r>
              <a:rPr lang="en-IN" sz="2400">
                <a:latin typeface="Calisto MT"/>
              </a:rPr>
              <a:t>, ~11,547 test images. Duplicate filenames handled with 'dup_' prefix.</a:t>
            </a:r>
          </a:p>
          <a:p>
            <a:pPr marL="0" indent="0">
              <a:buNone/>
            </a:pPr>
            <a:endParaRPr lang="en-IN">
              <a:latin typeface="Calisto MT"/>
            </a:endParaRPr>
          </a:p>
          <a:p>
            <a:pPr marL="305435" indent="-305435">
              <a:buFont typeface="Wingdings" panose="05020102010507070707" pitchFamily="18" charset="2"/>
              <a:buChar char="q"/>
            </a:pPr>
            <a:r>
              <a:rPr lang="en-IN" b="1">
                <a:latin typeface="Calisto MT"/>
              </a:rPr>
              <a:t>05 — Augmentation (Training Only)</a:t>
            </a:r>
          </a:p>
          <a:p>
            <a:pPr marL="0" indent="0">
              <a:buNone/>
            </a:pPr>
            <a:endParaRPr lang="en-IN" sz="2400">
              <a:latin typeface="Calisto MT"/>
            </a:endParaRPr>
          </a:p>
          <a:p>
            <a:pPr marL="0" indent="0">
              <a:buNone/>
            </a:pPr>
            <a:r>
              <a:rPr lang="en-IN" sz="2400">
                <a:latin typeface="Calisto MT"/>
              </a:rPr>
              <a:t>Applied </a:t>
            </a:r>
            <a:r>
              <a:rPr lang="en-IN" sz="2400" err="1">
                <a:latin typeface="Calisto MT"/>
              </a:rPr>
              <a:t>RandomHorizontalFlip</a:t>
            </a:r>
            <a:r>
              <a:rPr lang="en-IN" sz="2400">
                <a:latin typeface="Calisto MT"/>
              </a:rPr>
              <a:t>, </a:t>
            </a:r>
            <a:r>
              <a:rPr lang="en-IN" sz="2400" err="1">
                <a:latin typeface="Calisto MT"/>
              </a:rPr>
              <a:t>RandomRotation</a:t>
            </a:r>
            <a:r>
              <a:rPr lang="en-IN" sz="2400">
                <a:latin typeface="Calisto MT"/>
              </a:rPr>
              <a:t>(15), </a:t>
            </a:r>
            <a:r>
              <a:rPr lang="en-IN" sz="2400" err="1">
                <a:latin typeface="Calisto MT"/>
              </a:rPr>
              <a:t>ColorJitter</a:t>
            </a:r>
            <a:r>
              <a:rPr lang="en-IN" sz="2400">
                <a:latin typeface="Calisto MT"/>
              </a:rPr>
              <a:t> (brightness, contrast, saturation, hue), and </a:t>
            </a:r>
            <a:r>
              <a:rPr lang="en-IN" sz="2400" err="1">
                <a:latin typeface="Calisto MT"/>
              </a:rPr>
              <a:t>RandAugment</a:t>
            </a:r>
            <a:r>
              <a:rPr lang="en-IN" sz="2400">
                <a:latin typeface="Calisto MT"/>
              </a:rPr>
              <a:t>(</a:t>
            </a:r>
            <a:r>
              <a:rPr lang="en-IN" sz="2400" err="1">
                <a:latin typeface="Calisto MT"/>
              </a:rPr>
              <a:t>num_ops</a:t>
            </a:r>
            <a:r>
              <a:rPr lang="en-IN" sz="2400">
                <a:latin typeface="Calisto MT"/>
              </a:rPr>
              <a:t>=2, magnitude=9). Normalized with ImageNet mean/std.</a:t>
            </a:r>
          </a:p>
          <a:p>
            <a:pPr marL="305435" indent="-305435">
              <a:buFont typeface="Wingdings" panose="05020102010507070707" pitchFamily="18" charset="2"/>
              <a:buChar char="q"/>
            </a:pP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64E702-6425-2A07-012B-9A8E7830C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A60F6-7DB0-467E-96ED-BD436AB6B60E}" type="datetime1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16631-1236-C71E-55A6-4903D87D0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/>
              <a:t>URP 4301 - Final Year Research Project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CD3ED6-AAB4-B5C3-8246-07F751574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17</a:t>
            </a:fld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8677424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7A974-7527-5F9E-0A63-D0CC405EA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Exploratory Data Analysis (EDA)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B2A856-56A8-505D-E9EB-11D11EAC1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A60F6-7DB0-467E-96ED-BD436AB6B60E}" type="datetime1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08B09F-1900-53D5-F49C-CDBF47E1C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/>
              <a:t>URP 4301 - Final Year Research Project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50BCBC-CA68-518F-806D-9BBEC6876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18</a:t>
            </a:fld>
            <a:endParaRPr lang="en-US" b="1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D469A59-D35E-6278-5EE6-8C30132C10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577" y="1134295"/>
            <a:ext cx="11745157" cy="52079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>
                <a:latin typeface="Calisto MT"/>
              </a:rPr>
              <a:t>Class Distribution (Combined Dataset)                Key Dataset Statics </a:t>
            </a:r>
            <a:endParaRPr lang="en-IN" b="1"/>
          </a:p>
          <a:p>
            <a:pPr marL="0" indent="0">
              <a:buNone/>
            </a:pPr>
            <a:endParaRPr lang="en-IN" b="1">
              <a:latin typeface="Calisto MT"/>
            </a:endParaRPr>
          </a:p>
          <a:p>
            <a:pPr marL="0" indent="0">
              <a:buNone/>
            </a:pPr>
            <a:r>
              <a:rPr lang="en-IN" b="1">
                <a:latin typeface="Calisto MT"/>
              </a:rPr>
              <a:t>                                                                      </a:t>
            </a:r>
          </a:p>
          <a:p>
            <a:pPr marL="0" indent="0">
              <a:buNone/>
            </a:pPr>
            <a:r>
              <a:rPr lang="en-IN" b="1">
                <a:latin typeface="Calisto MT"/>
              </a:rPr>
              <a:t>                                                         </a:t>
            </a:r>
            <a:endParaRPr lang="en-IN" b="1"/>
          </a:p>
          <a:p>
            <a:pPr marL="0" indent="0">
              <a:buNone/>
            </a:pPr>
            <a:r>
              <a:rPr lang="en-IN" b="1">
                <a:latin typeface="Calisto MT"/>
              </a:rPr>
              <a:t>                                                                    </a:t>
            </a:r>
          </a:p>
          <a:p>
            <a:pPr marL="0" indent="0">
              <a:buNone/>
            </a:pPr>
            <a:endParaRPr lang="en-IN" b="1"/>
          </a:p>
          <a:p>
            <a:pPr marL="0" indent="0">
              <a:buNone/>
            </a:pPr>
            <a:endParaRPr lang="en-IN" b="1"/>
          </a:p>
        </p:txBody>
      </p:sp>
      <p:pic>
        <p:nvPicPr>
          <p:cNvPr id="7" name="Picture 6" descr="A graph of numbers and a number of data&#10;&#10;AI-generated content may be incorrect.">
            <a:extLst>
              <a:ext uri="{FF2B5EF4-FFF2-40B4-BE49-F238E27FC236}">
                <a16:creationId xmlns:a16="http://schemas.microsoft.com/office/drawing/2014/main" id="{79A93488-3467-358C-155B-CDE912D1AC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253" y="1711890"/>
            <a:ext cx="6456124" cy="435279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7A6103B-DD47-714B-2A60-F18D0D3E4E38}"/>
              </a:ext>
            </a:extLst>
          </p:cNvPr>
          <p:cNvSpPr txBox="1"/>
          <p:nvPr/>
        </p:nvSpPr>
        <p:spPr>
          <a:xfrm>
            <a:off x="7484756" y="2009007"/>
            <a:ext cx="4473455" cy="415498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400"/>
              <a:t>82,187 - Total Training Images</a:t>
            </a:r>
          </a:p>
          <a:p>
            <a:pPr marL="342900" indent="-342900">
              <a:buFont typeface="Arial"/>
              <a:buChar char="•"/>
            </a:pPr>
            <a:endParaRPr lang="en-US" sz="2400"/>
          </a:p>
          <a:p>
            <a:pPr marL="342900" indent="-342900">
              <a:buFont typeface="Arial"/>
              <a:buChar char="•"/>
            </a:pPr>
            <a:r>
              <a:rPr lang="en-US" sz="2400"/>
              <a:t>11,480 - Total Validation Images</a:t>
            </a:r>
          </a:p>
          <a:p>
            <a:pPr marL="342900" indent="-342900">
              <a:buFont typeface="Arial"/>
              <a:buChar char="•"/>
            </a:pPr>
            <a:endParaRPr lang="en-US" sz="2400"/>
          </a:p>
          <a:p>
            <a:pPr marL="342900" indent="-342900">
              <a:buFont typeface="Arial"/>
              <a:buChar char="•"/>
            </a:pPr>
            <a:r>
              <a:rPr lang="en-US" sz="2400"/>
              <a:t>11,547 - Total Testing Images</a:t>
            </a:r>
          </a:p>
          <a:p>
            <a:pPr marL="342900" indent="-342900">
              <a:buFont typeface="Arial"/>
              <a:buChar char="•"/>
            </a:pPr>
            <a:endParaRPr lang="en-US" sz="2400"/>
          </a:p>
          <a:p>
            <a:pPr marL="342900" indent="-342900">
              <a:buFont typeface="Arial"/>
              <a:buChar char="•"/>
            </a:pPr>
            <a:r>
              <a:rPr lang="en-US" sz="2400"/>
              <a:t>~ 50 / 50 - Real / Fake Balance</a:t>
            </a:r>
          </a:p>
          <a:p>
            <a:pPr marL="342900" indent="-342900">
              <a:buFont typeface="Arial"/>
              <a:buChar char="•"/>
            </a:pPr>
            <a:endParaRPr lang="en-US" sz="2400"/>
          </a:p>
          <a:p>
            <a:pPr marL="342900" indent="-342900">
              <a:buFont typeface="Arial"/>
              <a:buChar char="•"/>
            </a:pPr>
            <a:r>
              <a:rPr lang="en-US" sz="2400"/>
              <a:t>224 x 224 - Image Resolution</a:t>
            </a:r>
          </a:p>
          <a:p>
            <a:pPr marL="342900" indent="-342900">
              <a:buFont typeface="Arial"/>
              <a:buChar char="•"/>
            </a:pPr>
            <a:endParaRPr lang="en-US" sz="2400"/>
          </a:p>
          <a:p>
            <a:pPr marL="342900" indent="-342900">
              <a:buFont typeface="Arial"/>
              <a:buChar char="•"/>
            </a:pPr>
            <a:r>
              <a:rPr lang="en-US" sz="2400"/>
              <a:t>2 Classes - Real vs Fake </a:t>
            </a:r>
          </a:p>
        </p:txBody>
      </p:sp>
    </p:spTree>
    <p:extLst>
      <p:ext uri="{BB962C8B-B14F-4D97-AF65-F5344CB8AC3E}">
        <p14:creationId xmlns:p14="http://schemas.microsoft.com/office/powerpoint/2010/main" val="26629970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EB24D-3A90-E582-DF94-A3CB8C158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Model Selection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CD1777-FFCF-9D87-ACB6-8615F9A913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000" b="1">
                <a:solidFill>
                  <a:schemeClr val="accent2"/>
                </a:solidFill>
                <a:latin typeface="Calisto MT"/>
              </a:rPr>
              <a:t>We evaluated multiple architectures before selecting </a:t>
            </a:r>
            <a:r>
              <a:rPr lang="en-IN" sz="2000" b="1" err="1">
                <a:solidFill>
                  <a:schemeClr val="accent2"/>
                </a:solidFill>
                <a:latin typeface="Calisto MT"/>
              </a:rPr>
              <a:t>our</a:t>
            </a:r>
            <a:r>
              <a:rPr lang="en-IN" sz="2000" b="1">
                <a:solidFill>
                  <a:schemeClr val="accent2"/>
                </a:solidFill>
                <a:latin typeface="Calisto MT"/>
              </a:rPr>
              <a:t> final models :</a:t>
            </a:r>
            <a:endParaRPr lang="en-US" sz="2000" b="1">
              <a:solidFill>
                <a:schemeClr val="accent2"/>
              </a:solidFill>
            </a:endParaRPr>
          </a:p>
          <a:p>
            <a:pPr marL="305435" indent="-305435"/>
            <a:endParaRPr lang="en-IN" sz="2000"/>
          </a:p>
          <a:p>
            <a:pPr marL="0" indent="0">
              <a:buNone/>
            </a:pPr>
            <a:endParaRPr lang="en-IN" sz="2000">
              <a:latin typeface="Calisto MT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465007-424B-12D1-0F49-F7D3FDF78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A60F6-7DB0-467E-96ED-BD436AB6B60E}" type="datetime1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267F1B-325D-A256-EC96-FF3CD5D24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/>
              <a:t>URP 4301 - Final Year Research Project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ED1689-713B-0724-35AF-D8E9C0D02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19</a:t>
            </a:fld>
            <a:endParaRPr lang="en-US" b="1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9F00D46-DF62-245A-C76C-D74DFBA0E8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5630929"/>
              </p:ext>
            </p:extLst>
          </p:nvPr>
        </p:nvGraphicFramePr>
        <p:xfrm>
          <a:off x="375780" y="1607506"/>
          <a:ext cx="11640123" cy="47145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10031">
                  <a:extLst>
                    <a:ext uri="{9D8B030D-6E8A-4147-A177-3AD203B41FA5}">
                      <a16:colId xmlns:a16="http://schemas.microsoft.com/office/drawing/2014/main" val="1467109409"/>
                    </a:ext>
                  </a:extLst>
                </a:gridCol>
                <a:gridCol w="3291727">
                  <a:extLst>
                    <a:ext uri="{9D8B030D-6E8A-4147-A177-3AD203B41FA5}">
                      <a16:colId xmlns:a16="http://schemas.microsoft.com/office/drawing/2014/main" val="3802980226"/>
                    </a:ext>
                  </a:extLst>
                </a:gridCol>
                <a:gridCol w="2938043">
                  <a:extLst>
                    <a:ext uri="{9D8B030D-6E8A-4147-A177-3AD203B41FA5}">
                      <a16:colId xmlns:a16="http://schemas.microsoft.com/office/drawing/2014/main" val="103606624"/>
                    </a:ext>
                  </a:extLst>
                </a:gridCol>
                <a:gridCol w="2500322">
                  <a:extLst>
                    <a:ext uri="{9D8B030D-6E8A-4147-A177-3AD203B41FA5}">
                      <a16:colId xmlns:a16="http://schemas.microsoft.com/office/drawing/2014/main" val="3673344388"/>
                    </a:ext>
                  </a:extLst>
                </a:gridCol>
              </a:tblGrid>
              <a:tr h="448235">
                <a:tc>
                  <a:txBody>
                    <a:bodyPr/>
                    <a:lstStyle/>
                    <a:p>
                      <a:r>
                        <a:rPr lang="en-US"/>
                        <a:t>Model Name -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Pros -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Cons -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Chosen / Not Chosen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2911117"/>
                  </a:ext>
                </a:extLst>
              </a:tr>
              <a:tr h="736101">
                <a:tc>
                  <a:txBody>
                    <a:bodyPr/>
                    <a:lstStyle/>
                    <a:p>
                      <a:r>
                        <a:rPr lang="en-US" dirty="0" err="1"/>
                        <a:t>ResNet</a:t>
                      </a:r>
                      <a:r>
                        <a:rPr lang="en-US" dirty="0"/>
                        <a:t> – 50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Simple, fast, well-tested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Weaker on fine grained face 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FF0000"/>
                          </a:solidFill>
                        </a:rPr>
                        <a:t>Not Chosen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3985707"/>
                  </a:ext>
                </a:extLst>
              </a:tr>
              <a:tr h="1143586">
                <a:tc>
                  <a:txBody>
                    <a:bodyPr/>
                    <a:lstStyle/>
                    <a:p>
                      <a:r>
                        <a:rPr lang="en-US" dirty="0" err="1"/>
                        <a:t>EfficientNet</a:t>
                      </a:r>
                      <a:r>
                        <a:rPr lang="en-US" dirty="0"/>
                        <a:t> - B0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Execellent</a:t>
                      </a:r>
                      <a:r>
                        <a:rPr lang="en-US" dirty="0"/>
                        <a:t> accuracy/efficiency tradeoff, pretrained ImageNet weights, low GPU usage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Pure CNN – No global Attention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>
                          <a:solidFill>
                            <a:srgbClr val="00B050"/>
                          </a:solidFill>
                        </a:rPr>
                        <a:t>Chosen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1600882"/>
                  </a:ext>
                </a:extLst>
              </a:tr>
              <a:tr h="736101">
                <a:tc>
                  <a:txBody>
                    <a:bodyPr/>
                    <a:lstStyle/>
                    <a:p>
                      <a:r>
                        <a:rPr lang="en-US"/>
                        <a:t>VGG - 16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Simple architecture, interpretable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Very large model, slow training, outdated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FF0000"/>
                          </a:solidFill>
                        </a:rPr>
                        <a:t>Not Chosen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4680892"/>
                  </a:ext>
                </a:extLst>
              </a:tr>
              <a:tr h="736101">
                <a:tc>
                  <a:txBody>
                    <a:bodyPr/>
                    <a:lstStyle/>
                    <a:p>
                      <a:r>
                        <a:rPr lang="en-US" dirty="0"/>
                        <a:t>Vision Transformer(</a:t>
                      </a:r>
                      <a:r>
                        <a:rPr lang="en-US" dirty="0" err="1"/>
                        <a:t>ViT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Global attention mechanism, strong on large datasets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Requires massive data, underperforms on small sets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>
                          <a:solidFill>
                            <a:srgbClr val="FF0000"/>
                          </a:solidFill>
                        </a:rPr>
                        <a:t>Not Chosen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35127"/>
                  </a:ext>
                </a:extLst>
              </a:tr>
              <a:tr h="880694">
                <a:tc>
                  <a:txBody>
                    <a:bodyPr/>
                    <a:lstStyle/>
                    <a:p>
                      <a:r>
                        <a:rPr lang="en-US"/>
                        <a:t>CNN – Transformer Hybrid</a:t>
                      </a:r>
                    </a:p>
                    <a:p>
                      <a:pPr lvl="0">
                        <a:buNone/>
                      </a:pPr>
                      <a:r>
                        <a:rPr lang="en-US" dirty="0"/>
                        <a:t>(</a:t>
                      </a:r>
                      <a:r>
                        <a:rPr lang="en-US" dirty="0" err="1"/>
                        <a:t>EfficientNet</a:t>
                      </a:r>
                      <a:r>
                        <a:rPr lang="en-US" dirty="0"/>
                        <a:t> – B3 + Transformer)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Combines local CNN features with global transformer </a:t>
                      </a:r>
                      <a:r>
                        <a:rPr lang="en-US"/>
                        <a:t>attention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Slower training, more parameters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00B050"/>
                          </a:solidFill>
                        </a:rPr>
                        <a:t>Chosen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49138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13997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82845-696E-8F21-52F2-728CFFC12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Model Architecture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766820-7995-D6D2-B223-A11880818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A60F6-7DB0-467E-96ED-BD436AB6B60E}" type="datetime1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019FB6-33D0-F424-27FC-FC5058E49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/>
              <a:t>URP 4301 - Final Year Research Project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8C3405-9009-1A29-25A8-04C4E29C0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20</a:t>
            </a:fld>
            <a:endParaRPr lang="en-US" b="1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BBAA2F4-A44B-AAFB-B299-5B146235EB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1" err="1">
                <a:latin typeface="Calisto MT"/>
              </a:rPr>
              <a:t>EfficientNet</a:t>
            </a:r>
            <a:r>
              <a:rPr lang="en-US" b="1">
                <a:latin typeface="Calisto MT"/>
              </a:rPr>
              <a:t> – B0 Architecture </a:t>
            </a:r>
            <a:endParaRPr lang="en-US" b="1"/>
          </a:p>
        </p:txBody>
      </p:sp>
      <p:pic>
        <p:nvPicPr>
          <p:cNvPr id="3" name="Picture 2" descr="A diagram of a block diagram&#10;&#10;AI-generated content may be incorrect.">
            <a:extLst>
              <a:ext uri="{FF2B5EF4-FFF2-40B4-BE49-F238E27FC236}">
                <a16:creationId xmlns:a16="http://schemas.microsoft.com/office/drawing/2014/main" id="{89508FB4-0FBC-CE2E-66DA-0F7E04BA70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396" y="1720890"/>
            <a:ext cx="11450879" cy="4627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5972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E03881-E412-D73A-FC38-857342557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299C0-1D30-5B97-0B6D-4E3F2A098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Model Architecture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942DD8-4ED3-B258-FA89-158919978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A60F6-7DB0-467E-96ED-BD436AB6B60E}" type="datetime1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4D849F-CADA-EC00-5D70-F6DF04870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/>
              <a:t>URP 4301 - Final Year Research Project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EB2ECE-5CE6-9D62-0041-79877D71A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21</a:t>
            </a:fld>
            <a:endParaRPr lang="en-US" b="1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EB9A2FA-3A3E-FE7A-A3CD-89147A4089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1">
                <a:latin typeface="Calisto MT"/>
              </a:rPr>
              <a:t>Hybrid CNN – Transformer Architecture</a:t>
            </a:r>
            <a:r>
              <a:rPr lang="en-US">
                <a:latin typeface="Calisto MT"/>
              </a:rPr>
              <a:t> </a:t>
            </a:r>
            <a:endParaRPr lang="en-US"/>
          </a:p>
        </p:txBody>
      </p:sp>
      <p:pic>
        <p:nvPicPr>
          <p:cNvPr id="3" name="Picture 2" descr="A diagram of a hybrid transformer architecture&#10;&#10;AI-generated content may be incorrect.">
            <a:extLst>
              <a:ext uri="{FF2B5EF4-FFF2-40B4-BE49-F238E27FC236}">
                <a16:creationId xmlns:a16="http://schemas.microsoft.com/office/drawing/2014/main" id="{2F7BB302-144F-0FC0-7B8A-0228143BA2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030" y="1712122"/>
            <a:ext cx="11172267" cy="4621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6550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06028-C877-255F-44AA-A12ADC3DA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/>
              <a:t>Software Tools &amp; Platform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17181A-93E1-8206-5B1C-FE289A0B2A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br>
              <a:rPr lang="en-IN" sz="2400"/>
            </a:br>
            <a:endParaRPr lang="en-IN" sz="2400"/>
          </a:p>
          <a:p>
            <a:pPr>
              <a:lnSpc>
                <a:spcPct val="110000"/>
              </a:lnSpc>
            </a:pPr>
            <a:endParaRPr lang="en-IN" sz="2400"/>
          </a:p>
          <a:p>
            <a:pPr>
              <a:lnSpc>
                <a:spcPct val="110000"/>
              </a:lnSpc>
            </a:pPr>
            <a:endParaRPr lang="en-IN" sz="2400"/>
          </a:p>
          <a:p>
            <a:pPr>
              <a:lnSpc>
                <a:spcPct val="110000"/>
              </a:lnSpc>
            </a:pPr>
            <a:endParaRPr lang="en-IN" sz="24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D06C28-1E49-EFFB-F02C-A7A421F2D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A60F6-7DB0-467E-96ED-BD436AB6B60E}" type="datetime1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A8B1DF-531C-750E-41C3-3724664A6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/>
              <a:t>URP 4301 - Final Year Research Project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126A5F-D640-6A0F-5126-DF8ECEB4C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22</a:t>
            </a:fld>
            <a:endParaRPr lang="en-US" b="1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74448F6-4156-B2F7-A99D-74C04D55AD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9299760"/>
              </p:ext>
            </p:extLst>
          </p:nvPr>
        </p:nvGraphicFramePr>
        <p:xfrm>
          <a:off x="266330" y="1207364"/>
          <a:ext cx="11745156" cy="5089949"/>
        </p:xfrm>
        <a:graphic>
          <a:graphicData uri="http://schemas.openxmlformats.org/drawingml/2006/table">
            <a:tbl>
              <a:tblPr/>
              <a:tblGrid>
                <a:gridCol w="3686545">
                  <a:extLst>
                    <a:ext uri="{9D8B030D-6E8A-4147-A177-3AD203B41FA5}">
                      <a16:colId xmlns:a16="http://schemas.microsoft.com/office/drawing/2014/main" val="577974025"/>
                    </a:ext>
                  </a:extLst>
                </a:gridCol>
                <a:gridCol w="8058611">
                  <a:extLst>
                    <a:ext uri="{9D8B030D-6E8A-4147-A177-3AD203B41FA5}">
                      <a16:colId xmlns:a16="http://schemas.microsoft.com/office/drawing/2014/main" val="3083453615"/>
                    </a:ext>
                  </a:extLst>
                </a:gridCol>
              </a:tblGrid>
              <a:tr h="49548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>
                          <a:latin typeface="Calisto MT" panose="02040603050505030304" pitchFamily="18" charset="0"/>
                        </a:rPr>
                        <a:t>Category</a:t>
                      </a:r>
                    </a:p>
                  </a:txBody>
                  <a:tcPr marL="57225" marR="57225" marT="28612" marB="286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>
                          <a:latin typeface="Calisto MT" panose="02040603050505030304" pitchFamily="18" charset="0"/>
                        </a:rPr>
                        <a:t>Information</a:t>
                      </a:r>
                    </a:p>
                  </a:txBody>
                  <a:tcPr marL="57225" marR="57225" marT="28612" marB="286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2951085"/>
                  </a:ext>
                </a:extLst>
              </a:tr>
              <a:tr h="5405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Calisto MT" panose="02040603050505030304" pitchFamily="18" charset="0"/>
                        </a:rPr>
                        <a:t>Hardware Platform</a:t>
                      </a:r>
                    </a:p>
                  </a:txBody>
                  <a:tcPr marL="57225" marR="57225" marT="28612" marB="286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2000" b="0" i="0" u="none" strike="noStrike" noProof="0"/>
                        <a:t>Kaggle GPU — NVIDIA Tesla T4, 16GB VRAM</a:t>
                      </a:r>
                      <a:endParaRPr lang="en-IN" sz="2000">
                        <a:latin typeface="Calisto MT" panose="02040603050505030304" pitchFamily="18" charset="0"/>
                      </a:endParaRPr>
                    </a:p>
                  </a:txBody>
                  <a:tcPr marL="57225" marR="57225" marT="28612" marB="286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4967842"/>
                  </a:ext>
                </a:extLst>
              </a:tr>
              <a:tr h="4954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Calisto MT" panose="02040603050505030304" pitchFamily="18" charset="0"/>
                        </a:rPr>
                        <a:t>Operating System</a:t>
                      </a:r>
                    </a:p>
                  </a:txBody>
                  <a:tcPr marL="57225" marR="57225" marT="28612" marB="286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2000" b="0" i="0" u="none" strike="noStrike" noProof="0"/>
                        <a:t>Ubuntu Linux (Kaggle cloud environment)</a:t>
                      </a:r>
                      <a:endParaRPr lang="en-IN" sz="2000">
                        <a:latin typeface="Calisto MT" panose="02040603050505030304" pitchFamily="18" charset="0"/>
                      </a:endParaRPr>
                    </a:p>
                  </a:txBody>
                  <a:tcPr marL="57225" marR="57225" marT="28612" marB="286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4166276"/>
                  </a:ext>
                </a:extLst>
              </a:tr>
              <a:tr h="4954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Calisto MT" panose="02040603050505030304" pitchFamily="18" charset="0"/>
                        </a:rPr>
                        <a:t>Programming Language</a:t>
                      </a:r>
                    </a:p>
                  </a:txBody>
                  <a:tcPr marL="57225" marR="57225" marT="28612" marB="286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2000" b="0" i="0" u="none" strike="noStrike" noProof="0"/>
                        <a:t>Python 3.12</a:t>
                      </a:r>
                      <a:endParaRPr lang="en-IN" sz="2000">
                        <a:latin typeface="Calisto MT" panose="02040603050505030304" pitchFamily="18" charset="0"/>
                      </a:endParaRPr>
                    </a:p>
                  </a:txBody>
                  <a:tcPr marL="57225" marR="57225" marT="28612" marB="286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482731"/>
                  </a:ext>
                </a:extLst>
              </a:tr>
              <a:tr h="5405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Calisto MT" panose="02040603050505030304" pitchFamily="18" charset="0"/>
                        </a:rPr>
                        <a:t>Development Environment</a:t>
                      </a:r>
                    </a:p>
                  </a:txBody>
                  <a:tcPr marL="57225" marR="57225" marT="28612" marB="286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0" i="0" u="none" strike="noStrike" noProof="0"/>
                        <a:t>Kaggle Notebooks (Jupyter-based)</a:t>
                      </a:r>
                      <a:endParaRPr lang="en-IN" sz="2000">
                        <a:latin typeface="Calisto MT"/>
                      </a:endParaRPr>
                    </a:p>
                  </a:txBody>
                  <a:tcPr marL="57225" marR="57225" marT="28612" marB="286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0032979"/>
                  </a:ext>
                </a:extLst>
              </a:tr>
              <a:tr h="4954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Calisto MT" panose="02040603050505030304" pitchFamily="18" charset="0"/>
                        </a:rPr>
                        <a:t>Deep Learning Frameworks</a:t>
                      </a:r>
                    </a:p>
                  </a:txBody>
                  <a:tcPr marL="57225" marR="57225" marT="28612" marB="286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2000" b="0" i="0" u="none" strike="noStrike" noProof="0" dirty="0" err="1"/>
                        <a:t>PyTorch</a:t>
                      </a:r>
                      <a:r>
                        <a:rPr lang="en-IN" sz="2000" b="0" i="0" u="none" strike="noStrike" noProof="0" dirty="0"/>
                        <a:t> 2.2.2 with CUDA 12.8</a:t>
                      </a:r>
                      <a:endParaRPr lang="en-US" dirty="0"/>
                    </a:p>
                  </a:txBody>
                  <a:tcPr marL="57225" marR="57225" marT="28612" marB="286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4519109"/>
                  </a:ext>
                </a:extLst>
              </a:tr>
              <a:tr h="4954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Calisto MT"/>
                        </a:rPr>
                        <a:t>Backbone Library</a:t>
                      </a:r>
                      <a:endParaRPr lang="en-IN" sz="2000" b="1">
                        <a:latin typeface="Calisto MT" panose="02040603050505030304" pitchFamily="18" charset="0"/>
                      </a:endParaRPr>
                    </a:p>
                  </a:txBody>
                  <a:tcPr marL="57225" marR="57225" marT="28612" marB="286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2000" b="0" i="0" u="none" strike="noStrike" noProof="0" dirty="0" err="1"/>
                        <a:t>timm</a:t>
                      </a:r>
                      <a:r>
                        <a:rPr lang="en-IN" sz="2000" b="0" i="0" u="none" strike="noStrike" noProof="0" dirty="0"/>
                        <a:t> (</a:t>
                      </a:r>
                      <a:r>
                        <a:rPr lang="en-IN" sz="2000" b="0" i="0" u="none" strike="noStrike" noProof="0" dirty="0" err="1"/>
                        <a:t>PyTorch</a:t>
                      </a:r>
                      <a:r>
                        <a:rPr lang="en-IN" sz="2000" b="0" i="0" u="none" strike="noStrike" noProof="0" dirty="0"/>
                        <a:t> Image Models) — EfficientNet-B0 &amp; B3</a:t>
                      </a:r>
                      <a:endParaRPr lang="en-IN" sz="2000" dirty="0">
                        <a:latin typeface="Calisto MT" panose="02040603050505030304" pitchFamily="18" charset="0"/>
                      </a:endParaRPr>
                    </a:p>
                  </a:txBody>
                  <a:tcPr marL="57225" marR="57225" marT="28612" marB="286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9798231"/>
                  </a:ext>
                </a:extLst>
              </a:tr>
              <a:tr h="4954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Calisto MT"/>
                        </a:rPr>
                        <a:t>Face Detection </a:t>
                      </a:r>
                    </a:p>
                  </a:txBody>
                  <a:tcPr marL="57225" marR="57225" marT="28612" marB="286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2000" b="0" i="0" u="none" strike="noStrike" noProof="0" dirty="0" err="1"/>
                        <a:t>facenet-pytorch</a:t>
                      </a:r>
                      <a:r>
                        <a:rPr lang="en-IN" sz="2000" b="0" i="0" u="none" strike="noStrike" noProof="0" dirty="0"/>
                        <a:t> (MTCNN)</a:t>
                      </a:r>
                      <a:endParaRPr lang="en-IN" sz="2000" dirty="0">
                        <a:latin typeface="Calisto MT" panose="02040603050505030304" pitchFamily="18" charset="0"/>
                      </a:endParaRPr>
                    </a:p>
                  </a:txBody>
                  <a:tcPr marL="57225" marR="57225" marT="28612" marB="286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1470570"/>
                  </a:ext>
                </a:extLst>
              </a:tr>
              <a:tr h="4954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Calisto MT"/>
                        </a:rPr>
                        <a:t>Data Libraries</a:t>
                      </a:r>
                      <a:endParaRPr lang="en-IN" sz="2000" b="1">
                        <a:latin typeface="Calisto MT" panose="02040603050505030304" pitchFamily="18" charset="0"/>
                      </a:endParaRPr>
                    </a:p>
                  </a:txBody>
                  <a:tcPr marL="57225" marR="57225" marT="28612" marB="286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2000" b="0" i="0" u="none" strike="noStrike" noProof="0"/>
                        <a:t>NumPy, Pandas, OpenCV (cv2), Pillow</a:t>
                      </a:r>
                      <a:endParaRPr lang="en-IN" sz="2000">
                        <a:latin typeface="Calisto MT" panose="02040603050505030304" pitchFamily="18" charset="0"/>
                      </a:endParaRPr>
                    </a:p>
                  </a:txBody>
                  <a:tcPr marL="57225" marR="57225" marT="28612" marB="286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7421831"/>
                  </a:ext>
                </a:extLst>
              </a:tr>
              <a:tr h="5405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Calisto MT"/>
                        </a:rPr>
                        <a:t>Augmentation </a:t>
                      </a:r>
                      <a:endParaRPr lang="en-IN" sz="2000" b="1">
                        <a:latin typeface="Calisto MT" panose="02040603050505030304" pitchFamily="18" charset="0"/>
                      </a:endParaRPr>
                    </a:p>
                  </a:txBody>
                  <a:tcPr marL="57225" marR="57225" marT="28612" marB="286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0" i="0" u="none" strike="noStrike" noProof="0" dirty="0" err="1"/>
                        <a:t>torchvision.transforms</a:t>
                      </a:r>
                      <a:r>
                        <a:rPr lang="en-IN" sz="2000" b="0" i="0" u="none" strike="noStrike" noProof="0" dirty="0"/>
                        <a:t> — </a:t>
                      </a:r>
                      <a:r>
                        <a:rPr lang="en-IN" sz="2000" b="0" i="0" u="none" strike="noStrike" noProof="0" dirty="0" err="1"/>
                        <a:t>RandAugment</a:t>
                      </a:r>
                      <a:r>
                        <a:rPr lang="en-IN" sz="2000" b="0" i="0" u="none" strike="noStrike" noProof="0" dirty="0"/>
                        <a:t>, </a:t>
                      </a:r>
                      <a:r>
                        <a:rPr lang="en-IN" sz="2000" b="0" i="0" u="none" strike="noStrike" noProof="0" dirty="0" err="1"/>
                        <a:t>ColorJitter</a:t>
                      </a:r>
                    </a:p>
                  </a:txBody>
                  <a:tcPr marL="57225" marR="57225" marT="28612" marB="286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25085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73041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62F326-9EBC-4814-23F9-66DB66252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4AD70-6C19-EDE6-C924-872BCEF70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/>
              <a:t>Software Tools &amp; Platform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AA3412-60AB-A2D5-11D8-54CF2ACBE5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br>
              <a:rPr lang="en-IN" sz="2400"/>
            </a:br>
            <a:endParaRPr lang="en-IN" sz="2400"/>
          </a:p>
          <a:p>
            <a:pPr>
              <a:lnSpc>
                <a:spcPct val="110000"/>
              </a:lnSpc>
            </a:pPr>
            <a:endParaRPr lang="en-IN" sz="2400"/>
          </a:p>
          <a:p>
            <a:pPr>
              <a:lnSpc>
                <a:spcPct val="110000"/>
              </a:lnSpc>
            </a:pPr>
            <a:endParaRPr lang="en-IN" sz="2400"/>
          </a:p>
          <a:p>
            <a:pPr>
              <a:lnSpc>
                <a:spcPct val="110000"/>
              </a:lnSpc>
            </a:pPr>
            <a:endParaRPr lang="en-IN" sz="24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BA78DD-CE80-154B-29A3-A138AEF5D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A60F6-7DB0-467E-96ED-BD436AB6B60E}" type="datetime1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EEEDEF-E5E9-8C29-DAC0-F859815C7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/>
              <a:t>URP 4301 - Final Year Research Project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7A1332-9882-1BBB-1C16-7FEFECC70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23</a:t>
            </a:fld>
            <a:endParaRPr lang="en-US" b="1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A0D0A6E-B63F-42A0-D623-4937346508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4643090"/>
              </p:ext>
            </p:extLst>
          </p:nvPr>
        </p:nvGraphicFramePr>
        <p:xfrm>
          <a:off x="266330" y="1207364"/>
          <a:ext cx="11745155" cy="5109718"/>
        </p:xfrm>
        <a:graphic>
          <a:graphicData uri="http://schemas.openxmlformats.org/drawingml/2006/table">
            <a:tbl>
              <a:tblPr/>
              <a:tblGrid>
                <a:gridCol w="3739963">
                  <a:extLst>
                    <a:ext uri="{9D8B030D-6E8A-4147-A177-3AD203B41FA5}">
                      <a16:colId xmlns:a16="http://schemas.microsoft.com/office/drawing/2014/main" val="577974025"/>
                    </a:ext>
                  </a:extLst>
                </a:gridCol>
                <a:gridCol w="8005192">
                  <a:extLst>
                    <a:ext uri="{9D8B030D-6E8A-4147-A177-3AD203B41FA5}">
                      <a16:colId xmlns:a16="http://schemas.microsoft.com/office/drawing/2014/main" val="3083453615"/>
                    </a:ext>
                  </a:extLst>
                </a:gridCol>
              </a:tblGrid>
              <a:tr h="49548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>
                          <a:latin typeface="Calisto MT" panose="02040603050505030304" pitchFamily="18" charset="0"/>
                        </a:rPr>
                        <a:t>Category</a:t>
                      </a:r>
                    </a:p>
                  </a:txBody>
                  <a:tcPr marL="57225" marR="57225" marT="28612" marB="286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>
                          <a:latin typeface="Calisto MT" panose="02040603050505030304" pitchFamily="18" charset="0"/>
                        </a:rPr>
                        <a:t>Information</a:t>
                      </a:r>
                    </a:p>
                  </a:txBody>
                  <a:tcPr marL="57225" marR="57225" marT="28612" marB="286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2951085"/>
                  </a:ext>
                </a:extLst>
              </a:tr>
              <a:tr h="54052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2000" b="1">
                          <a:latin typeface="Calisto MT"/>
                        </a:rPr>
                        <a:t>Metrics &amp; Evaluation</a:t>
                      </a:r>
                      <a:endParaRPr lang="en-US"/>
                    </a:p>
                  </a:txBody>
                  <a:tcPr marL="57225" marR="57225" marT="28612" marB="286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2000" b="0" i="0" u="none" strike="noStrike" noProof="0">
                          <a:latin typeface="Gill Sans MT"/>
                        </a:rPr>
                        <a:t>scikit-learn — accuracy, F1, AUC-ROC, confusion matrix</a:t>
                      </a:r>
                      <a:endParaRPr lang="en-US"/>
                    </a:p>
                  </a:txBody>
                  <a:tcPr marL="57225" marR="57225" marT="28612" marB="286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4967842"/>
                  </a:ext>
                </a:extLst>
              </a:tr>
              <a:tr h="4954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Calisto MT"/>
                        </a:rPr>
                        <a:t>Visualization</a:t>
                      </a:r>
                    </a:p>
                  </a:txBody>
                  <a:tcPr marL="57225" marR="57225" marT="28612" marB="286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2000" b="0" i="0" u="none" strike="noStrike" noProof="0">
                          <a:latin typeface="Gill Sans MT"/>
                        </a:rPr>
                        <a:t>Matplotlib, Seaborn</a:t>
                      </a:r>
                      <a:endParaRPr lang="en-US"/>
                    </a:p>
                  </a:txBody>
                  <a:tcPr marL="57225" marR="57225" marT="28612" marB="286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4166276"/>
                  </a:ext>
                </a:extLst>
              </a:tr>
              <a:tr h="4954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Calisto MT"/>
                        </a:rPr>
                        <a:t>Mixed Precision Training</a:t>
                      </a:r>
                    </a:p>
                  </a:txBody>
                  <a:tcPr marL="57225" marR="57225" marT="28612" marB="286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2000" b="0" i="0" u="none" strike="noStrike" noProof="0" err="1">
                          <a:latin typeface="Gill Sans MT"/>
                        </a:rPr>
                        <a:t>torch.amp</a:t>
                      </a:r>
                      <a:r>
                        <a:rPr lang="en-IN" sz="2000" b="0" i="0" u="none" strike="noStrike" noProof="0">
                          <a:latin typeface="Gill Sans MT"/>
                        </a:rPr>
                        <a:t> (Automatic Mixed Precision — AMP)</a:t>
                      </a:r>
                      <a:endParaRPr lang="en-IN" sz="2000">
                        <a:latin typeface="Calisto MT" panose="02040603050505030304" pitchFamily="18" charset="0"/>
                      </a:endParaRPr>
                    </a:p>
                  </a:txBody>
                  <a:tcPr marL="57225" marR="57225" marT="28612" marB="286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482731"/>
                  </a:ext>
                </a:extLst>
              </a:tr>
              <a:tr h="5602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Calisto MT"/>
                        </a:rPr>
                        <a:t>Model Training Platform</a:t>
                      </a:r>
                    </a:p>
                  </a:txBody>
                  <a:tcPr marL="57225" marR="57225" marT="28612" marB="286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0" i="0" u="none" strike="noStrike" noProof="0">
                          <a:latin typeface="Gill Sans MT"/>
                        </a:rPr>
                        <a:t>Kaggle (GPU T4 x1, 30 hours/week free)</a:t>
                      </a:r>
                      <a:endParaRPr lang="en-IN" sz="2000">
                        <a:latin typeface="Gill Sans MT"/>
                      </a:endParaRPr>
                    </a:p>
                  </a:txBody>
                  <a:tcPr marL="57225" marR="57225" marT="28612" marB="286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0032979"/>
                  </a:ext>
                </a:extLst>
              </a:tr>
              <a:tr h="495482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000" b="1">
                        <a:latin typeface="Calisto MT"/>
                      </a:endParaRPr>
                    </a:p>
                  </a:txBody>
                  <a:tcPr marL="57225" marR="57225" marT="28612" marB="286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IN" sz="2000" b="0" i="0" u="none" strike="noStrike" noProof="0"/>
                    </a:p>
                  </a:txBody>
                  <a:tcPr marL="57225" marR="57225" marT="28612" marB="286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4519109"/>
                  </a:ext>
                </a:extLst>
              </a:tr>
              <a:tr h="495482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000" b="1">
                        <a:latin typeface="Calisto MT"/>
                      </a:endParaRPr>
                    </a:p>
                  </a:txBody>
                  <a:tcPr marL="57225" marR="57225" marT="28612" marB="286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IN" sz="2000" b="0" i="0" u="none" strike="noStrike" noProof="0"/>
                    </a:p>
                  </a:txBody>
                  <a:tcPr marL="57225" marR="57225" marT="28612" marB="286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9798231"/>
                  </a:ext>
                </a:extLst>
              </a:tr>
              <a:tr h="495482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000" b="1">
                        <a:latin typeface="Calisto MT"/>
                      </a:endParaRPr>
                    </a:p>
                  </a:txBody>
                  <a:tcPr marL="57225" marR="57225" marT="28612" marB="286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IN" sz="2000" b="0" i="0" u="none" strike="noStrike" noProof="0"/>
                    </a:p>
                  </a:txBody>
                  <a:tcPr marL="57225" marR="57225" marT="28612" marB="286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1470570"/>
                  </a:ext>
                </a:extLst>
              </a:tr>
              <a:tr h="495482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000" b="1">
                        <a:latin typeface="Calisto MT"/>
                      </a:endParaRPr>
                    </a:p>
                  </a:txBody>
                  <a:tcPr marL="57225" marR="57225" marT="28612" marB="286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IN" sz="2000" b="0" i="0" u="none" strike="noStrike" noProof="0"/>
                    </a:p>
                  </a:txBody>
                  <a:tcPr marL="57225" marR="57225" marT="28612" marB="286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7421831"/>
                  </a:ext>
                </a:extLst>
              </a:tr>
              <a:tr h="54052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000" b="1">
                        <a:latin typeface="Calisto MT"/>
                      </a:endParaRPr>
                    </a:p>
                  </a:txBody>
                  <a:tcPr marL="57225" marR="57225" marT="28612" marB="286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000" b="0" i="0" u="none" strike="noStrike" noProof="0" err="1"/>
                    </a:p>
                  </a:txBody>
                  <a:tcPr marL="57225" marR="57225" marT="28612" marB="286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25085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35909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5C7DD1-84CD-A6BD-CD55-94AF2680D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4F247-52BB-50D6-3FC9-1147EF913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Platform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BAA1D9-AFB8-3021-2160-442DD51C36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br>
              <a:rPr lang="en-IN" sz="2400"/>
            </a:br>
            <a:endParaRPr lang="en-IN" sz="2400"/>
          </a:p>
          <a:p>
            <a:pPr>
              <a:lnSpc>
                <a:spcPct val="110000"/>
              </a:lnSpc>
            </a:pPr>
            <a:endParaRPr lang="en-IN" sz="2400"/>
          </a:p>
          <a:p>
            <a:pPr>
              <a:lnSpc>
                <a:spcPct val="110000"/>
              </a:lnSpc>
            </a:pPr>
            <a:endParaRPr lang="en-IN" sz="2400"/>
          </a:p>
          <a:p>
            <a:pPr>
              <a:lnSpc>
                <a:spcPct val="110000"/>
              </a:lnSpc>
            </a:pPr>
            <a:endParaRPr lang="en-IN" sz="24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5C8352-8217-C523-9F7A-C90506177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A60F6-7DB0-467E-96ED-BD436AB6B60E}" type="datetime1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2B8595-4D5E-77AF-D723-5F9EE9185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/>
              <a:t>URP 4301 - Final Year Research Project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E86A97-0A31-F0B3-0A56-B7815C53A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24</a:t>
            </a:fld>
            <a:endParaRPr lang="en-US" b="1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9BBE4CF-2386-B4AE-9A0C-7BAC51C9DB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832275"/>
              </p:ext>
            </p:extLst>
          </p:nvPr>
        </p:nvGraphicFramePr>
        <p:xfrm>
          <a:off x="266330" y="1374378"/>
          <a:ext cx="11745156" cy="4761599"/>
        </p:xfrm>
        <a:graphic>
          <a:graphicData uri="http://schemas.openxmlformats.org/drawingml/2006/table">
            <a:tbl>
              <a:tblPr/>
              <a:tblGrid>
                <a:gridCol w="3734170">
                  <a:extLst>
                    <a:ext uri="{9D8B030D-6E8A-4147-A177-3AD203B41FA5}">
                      <a16:colId xmlns:a16="http://schemas.microsoft.com/office/drawing/2014/main" val="577974025"/>
                    </a:ext>
                  </a:extLst>
                </a:gridCol>
                <a:gridCol w="8010986">
                  <a:extLst>
                    <a:ext uri="{9D8B030D-6E8A-4147-A177-3AD203B41FA5}">
                      <a16:colId xmlns:a16="http://schemas.microsoft.com/office/drawing/2014/main" val="3083453615"/>
                    </a:ext>
                  </a:extLst>
                </a:gridCol>
              </a:tblGrid>
              <a:tr h="3893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>
                          <a:latin typeface="Calisto MT" panose="02040603050505030304" pitchFamily="18" charset="0"/>
                        </a:rPr>
                        <a:t>Category</a:t>
                      </a:r>
                    </a:p>
                  </a:txBody>
                  <a:tcPr marL="57225" marR="57225" marT="28612" marB="286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>
                          <a:latin typeface="Calisto MT" panose="02040603050505030304" pitchFamily="18" charset="0"/>
                        </a:rPr>
                        <a:t>Information</a:t>
                      </a:r>
                    </a:p>
                  </a:txBody>
                  <a:tcPr marL="57225" marR="57225" marT="28612" marB="286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2951085"/>
                  </a:ext>
                </a:extLst>
              </a:tr>
              <a:tr h="3893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Calisto MT" panose="02040603050505030304" pitchFamily="18" charset="0"/>
                        </a:rPr>
                        <a:t>Version Control</a:t>
                      </a:r>
                    </a:p>
                  </a:txBody>
                  <a:tcPr marL="57225" marR="57225" marT="28612" marB="286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Git, GitHub (source code management)</a:t>
                      </a:r>
                      <a:endParaRPr lang="en-US" sz="1800"/>
                    </a:p>
                  </a:txBody>
                  <a:tcPr marL="57225" marR="57225" marT="28612" marB="286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140749"/>
                  </a:ext>
                </a:extLst>
              </a:tr>
              <a:tr h="3893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Calisto MT"/>
                        </a:rPr>
                        <a:t>Experiment Tracking</a:t>
                      </a:r>
                    </a:p>
                  </a:txBody>
                  <a:tcPr marL="57225" marR="57225" marT="28612" marB="286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sv-SE" sz="1800" b="0" i="0" u="none" strike="noStrike" noProof="0"/>
                        <a:t>Training history saved as Python dictionaries; graphs saved as .png files</a:t>
                      </a:r>
                      <a:endParaRPr lang="sv-SE" sz="1800">
                        <a:latin typeface="Calisto MT" panose="02040603050505030304" pitchFamily="18" charset="0"/>
                      </a:endParaRPr>
                    </a:p>
                  </a:txBody>
                  <a:tcPr marL="57225" marR="57225" marT="28612" marB="286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6995742"/>
                  </a:ext>
                </a:extLst>
              </a:tr>
              <a:tr h="6588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Calisto MT"/>
                        </a:rPr>
                        <a:t>Model Checkpointing</a:t>
                      </a:r>
                      <a:endParaRPr lang="en-IN" sz="2000" b="1">
                        <a:latin typeface="Calisto MT" panose="02040603050505030304" pitchFamily="18" charset="0"/>
                      </a:endParaRPr>
                    </a:p>
                  </a:txBody>
                  <a:tcPr marL="57225" marR="57225" marT="28612" marB="286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800" b="0" i="0" u="none" strike="noStrike" noProof="0" dirty="0"/>
                        <a:t>Best model weights saved as .</a:t>
                      </a:r>
                      <a:r>
                        <a:rPr lang="en-IN" sz="1800" b="0" i="0" u="none" strike="noStrike" noProof="0" dirty="0" err="1"/>
                        <a:t>pth</a:t>
                      </a:r>
                      <a:r>
                        <a:rPr lang="en-IN" sz="1800" b="0" i="0" u="none" strike="noStrike" noProof="0" dirty="0"/>
                        <a:t> files (EfficientNet_B0_best.pth, </a:t>
                      </a:r>
                      <a:r>
                        <a:rPr lang="en-IN" sz="1800" b="0" i="0" u="none" strike="noStrike" noProof="0" dirty="0" err="1"/>
                        <a:t>CNN_Transformer_best.pth</a:t>
                      </a:r>
                      <a:r>
                        <a:rPr lang="en-IN" sz="1800" b="0" i="0" u="none" strike="noStrike" noProof="0" dirty="0"/>
                        <a:t>)</a:t>
                      </a:r>
                      <a:endParaRPr lang="en-IN" sz="1800" dirty="0">
                        <a:latin typeface="Calisto MT" panose="02040603050505030304" pitchFamily="18" charset="0"/>
                      </a:endParaRPr>
                    </a:p>
                  </a:txBody>
                  <a:tcPr marL="57225" marR="57225" marT="28612" marB="286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5563874"/>
                  </a:ext>
                </a:extLst>
              </a:tr>
              <a:tr h="3893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Calisto MT"/>
                        </a:rPr>
                        <a:t>Visualization Tools</a:t>
                      </a:r>
                      <a:endParaRPr lang="en-IN" sz="2000" b="1">
                        <a:latin typeface="Calisto MT" panose="02040603050505030304" pitchFamily="18" charset="0"/>
                      </a:endParaRPr>
                    </a:p>
                  </a:txBody>
                  <a:tcPr marL="57225" marR="57225" marT="28612" marB="286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/>
                        <a:t>Matplotlib — Loss curves, Accuracy curves, Confusion Matrices,  Metrics bar charts</a:t>
                      </a:r>
                      <a:endParaRPr lang="en-US" sz="1800" dirty="0">
                        <a:latin typeface="Calisto MT"/>
                      </a:endParaRPr>
                    </a:p>
                  </a:txBody>
                  <a:tcPr marL="57225" marR="57225" marT="28612" marB="286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9716976"/>
                  </a:ext>
                </a:extLst>
              </a:tr>
              <a:tr h="3893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Calisto MT"/>
                        </a:rPr>
                        <a:t>Dataset Sources </a:t>
                      </a:r>
                      <a:endParaRPr lang="en-IN" sz="2000" b="1">
                        <a:latin typeface="Calisto MT" panose="02040603050505030304" pitchFamily="18" charset="0"/>
                      </a:endParaRPr>
                    </a:p>
                  </a:txBody>
                  <a:tcPr marL="57225" marR="57225" marT="28612" marB="286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/>
                        <a:t>Kaggle Datasets —  </a:t>
                      </a:r>
                      <a:r>
                        <a:rPr lang="en-US" sz="1800" b="0" i="0" u="none" strike="noStrike" noProof="0" dirty="0" err="1"/>
                        <a:t>FaceForensics</a:t>
                      </a:r>
                      <a:r>
                        <a:rPr lang="en-US" sz="1800" b="0" i="0" u="none" strike="noStrike" noProof="0" dirty="0"/>
                        <a:t>++ and  CelebDF-V2</a:t>
                      </a:r>
                      <a:endParaRPr lang="en-US" sz="2000" b="0" i="0" u="none" strike="noStrike" noProof="0" dirty="0"/>
                    </a:p>
                  </a:txBody>
                  <a:tcPr marL="57225" marR="57225" marT="28612" marB="286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6803737"/>
                  </a:ext>
                </a:extLst>
              </a:tr>
              <a:tr h="7187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Calisto MT"/>
                        </a:rPr>
                        <a:t>Optimization</a:t>
                      </a:r>
                      <a:endParaRPr lang="en-IN" sz="2000" b="1">
                        <a:latin typeface="Calisto MT" panose="02040603050505030304" pitchFamily="18" charset="0"/>
                      </a:endParaRPr>
                    </a:p>
                  </a:txBody>
                  <a:tcPr marL="57225" marR="57225" marT="28612" marB="286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800" b="0" i="0" u="none" strike="noStrike" noProof="0" dirty="0" err="1"/>
                        <a:t>AdamW</a:t>
                      </a:r>
                      <a:r>
                        <a:rPr lang="en-IN" sz="1800" b="0" i="0" u="none" strike="noStrike" noProof="0" dirty="0"/>
                        <a:t> optimizer with cosine annealing LR scheduler, gradient clipping (max norm 2.0), label smoothing (0.1)</a:t>
                      </a:r>
                      <a:endParaRPr lang="en-IN" sz="1800" dirty="0">
                        <a:latin typeface="Calisto MT" panose="02040603050505030304" pitchFamily="18" charset="0"/>
                      </a:endParaRPr>
                    </a:p>
                  </a:txBody>
                  <a:tcPr marL="57225" marR="57225" marT="28612" marB="286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4949226"/>
                  </a:ext>
                </a:extLst>
              </a:tr>
              <a:tr h="38931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2000" b="1">
                          <a:latin typeface="Calisto MT"/>
                        </a:rPr>
                        <a:t>Regularization </a:t>
                      </a:r>
                    </a:p>
                  </a:txBody>
                  <a:tcPr marL="57225" marR="57225" marT="28612" marB="286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800" b="0" i="0" u="none" strike="noStrike" noProof="0" dirty="0"/>
                        <a:t>Dropout (0.3–0.4), Weight Decay (1e-4), </a:t>
                      </a:r>
                      <a:r>
                        <a:rPr lang="en-IN" sz="1800" b="0" i="0" u="none" strike="noStrike" noProof="0" dirty="0" err="1"/>
                        <a:t>RandAugment</a:t>
                      </a:r>
                      <a:r>
                        <a:rPr lang="en-IN" sz="1800" b="0" i="0" u="none" strike="noStrike" noProof="0" dirty="0"/>
                        <a:t>, backbone warmup freezing</a:t>
                      </a:r>
                      <a:endParaRPr lang="en-US" sz="1800" dirty="0"/>
                    </a:p>
                  </a:txBody>
                  <a:tcPr marL="57225" marR="57225" marT="28612" marB="286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0838750"/>
                  </a:ext>
                </a:extLst>
              </a:tr>
              <a:tr h="6588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Calisto MT"/>
                        </a:rPr>
                        <a:t>Training Strategy</a:t>
                      </a:r>
                      <a:endParaRPr lang="en-IN" sz="2000" b="1">
                        <a:latin typeface="Calisto MT" panose="02040603050505030304" pitchFamily="18" charset="0"/>
                      </a:endParaRPr>
                    </a:p>
                  </a:txBody>
                  <a:tcPr marL="57225" marR="57225" marT="28612" marB="286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800" b="0" i="0" u="none" strike="noStrike" noProof="0"/>
                        <a:t>Warmup freeze (3 epochs) → partial unfreeze → full fine-tuning; separate LR per param group</a:t>
                      </a:r>
                      <a:endParaRPr lang="en-IN" sz="1800">
                        <a:latin typeface="Calisto MT" panose="02040603050505030304" pitchFamily="18" charset="0"/>
                      </a:endParaRPr>
                    </a:p>
                  </a:txBody>
                  <a:tcPr marL="57225" marR="57225" marT="28612" marB="286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1152484"/>
                  </a:ext>
                </a:extLst>
              </a:tr>
              <a:tr h="3893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Calisto MT"/>
                        </a:rPr>
                        <a:t>Output Artifacts</a:t>
                      </a:r>
                      <a:endParaRPr lang="en-IN" sz="2000" b="1">
                        <a:latin typeface="Calisto MT" panose="02040603050505030304" pitchFamily="18" charset="0"/>
                      </a:endParaRPr>
                    </a:p>
                  </a:txBody>
                  <a:tcPr marL="57225" marR="57225" marT="28612" marB="286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/>
                        <a:t>7 graphs (G1–G7): Loss, Accuracy, Validation Overlay, Confusion Matrix, Metrics Bar</a:t>
                      </a:r>
                    </a:p>
                  </a:txBody>
                  <a:tcPr marL="57225" marR="57225" marT="28612" marB="286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01175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5125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FC671-D914-BC0C-1A28-F867978B1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Ebrima"/>
                <a:ea typeface="Ebrima"/>
                <a:cs typeface="Ebrima"/>
              </a:rPr>
              <a:t>Results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BAC7FE-BD82-3296-2D32-F265B8125D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Wingdings" panose="05020102010507070707" pitchFamily="18" charset="2"/>
              <a:buChar char="§"/>
            </a:pPr>
            <a:r>
              <a:rPr lang="en-US" b="1">
                <a:latin typeface="Calisto MT"/>
              </a:rPr>
              <a:t>Metrics Comparison (Validation Set) -</a:t>
            </a:r>
            <a:r>
              <a:rPr lang="en-US">
                <a:latin typeface="Calisto MT"/>
              </a:rPr>
              <a:t> </a:t>
            </a:r>
          </a:p>
          <a:p>
            <a:pPr marL="457200" indent="-457200">
              <a:buFont typeface="Wingdings" panose="05020102010507070707" pitchFamily="18" charset="2"/>
              <a:buChar char="§"/>
            </a:pP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C485B4-FA33-8DB9-8CED-8E204F071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A60F6-7DB0-467E-96ED-BD436AB6B60E}" type="datetime1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720A5F-55AB-75BF-CE57-70D14BDF5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/>
              <a:t>URP 4301 - Final Year Research Project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581113-EB0E-32E8-3CC8-83F2B04A2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25</a:t>
            </a:fld>
            <a:endParaRPr lang="en-US" b="1"/>
          </a:p>
        </p:txBody>
      </p:sp>
      <p:pic>
        <p:nvPicPr>
          <p:cNvPr id="7" name="Picture 6" descr="A graph showing a comparison of a number of metrics&#10;&#10;AI-generated content may be incorrect.">
            <a:extLst>
              <a:ext uri="{FF2B5EF4-FFF2-40B4-BE49-F238E27FC236}">
                <a16:creationId xmlns:a16="http://schemas.microsoft.com/office/drawing/2014/main" id="{F35E19FF-5528-D0FD-CE1B-2C8373EEA5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28905"/>
            <a:ext cx="11471754" cy="4717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3024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E1A6E-5B4A-008A-5B47-21539A6BB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results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270B0B9-09E0-0D3F-D254-026327F5FA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645" y="1134295"/>
            <a:ext cx="11713842" cy="5573314"/>
          </a:xfrm>
        </p:spPr>
        <p:txBody>
          <a:bodyPr>
            <a:normAutofit/>
          </a:bodyPr>
          <a:lstStyle/>
          <a:p>
            <a:pPr marL="305435" indent="-305435">
              <a:buFont typeface="Wingdings" panose="05020102010507070707" pitchFamily="18" charset="2"/>
              <a:buChar char="§"/>
            </a:pPr>
            <a:r>
              <a:rPr lang="en-IN" sz="2400" b="1">
                <a:latin typeface="Calisto MT"/>
              </a:rPr>
              <a:t>Final Model Performance Summary </a:t>
            </a:r>
            <a:r>
              <a:rPr lang="en-IN" b="1">
                <a:latin typeface="Calisto MT"/>
              </a:rPr>
              <a:t>:-</a:t>
            </a:r>
            <a:r>
              <a:rPr lang="en-IN" dirty="0">
                <a:latin typeface="Calisto MT"/>
              </a:rPr>
              <a:t> </a:t>
            </a:r>
            <a:endParaRPr lang="en-US" dirty="0"/>
          </a:p>
          <a:p>
            <a:pPr marL="305435" indent="-305435">
              <a:buFont typeface="Wingdings" panose="05020102010507070707" pitchFamily="18" charset="2"/>
              <a:buChar char="§"/>
            </a:pPr>
            <a:endParaRPr lang="en-IN"/>
          </a:p>
          <a:p>
            <a:pPr marL="305435" indent="-305435">
              <a:buFont typeface="Wingdings" panose="05020102010507070707" pitchFamily="18" charset="2"/>
              <a:buChar char="§"/>
            </a:pPr>
            <a:endParaRPr lang="en-IN"/>
          </a:p>
          <a:p>
            <a:pPr marL="305435" indent="-305435">
              <a:buFont typeface="Wingdings" panose="05020102010507070707" pitchFamily="18" charset="2"/>
              <a:buChar char="§"/>
            </a:pPr>
            <a:endParaRPr lang="en-IN"/>
          </a:p>
          <a:p>
            <a:pPr marL="305435" indent="-305435">
              <a:buFont typeface="Wingdings" panose="05020102010507070707" pitchFamily="18" charset="2"/>
              <a:buChar char="§"/>
            </a:pPr>
            <a:endParaRPr lang="en-IN" sz="3200"/>
          </a:p>
          <a:p>
            <a:pPr marL="342900" indent="-342900">
              <a:buFont typeface="Wingdings" panose="05020102010507070707" pitchFamily="18" charset="2"/>
              <a:buChar char="§"/>
            </a:pPr>
            <a:r>
              <a:rPr lang="en-IN" sz="2400" b="1">
                <a:latin typeface="Calisto MT"/>
              </a:rPr>
              <a:t>Key Findings : - </a:t>
            </a:r>
          </a:p>
          <a:p>
            <a:pPr marL="0" indent="0">
              <a:buNone/>
            </a:pPr>
            <a:endParaRPr lang="en-IN" sz="2000" b="1">
              <a:latin typeface="Calisto MT"/>
            </a:endParaRPr>
          </a:p>
          <a:p>
            <a:pPr marL="0" indent="0">
              <a:buNone/>
            </a:pPr>
            <a:r>
              <a:rPr lang="en-IN" sz="2000" dirty="0">
                <a:latin typeface="Calisto MT"/>
              </a:rPr>
              <a:t>(</a:t>
            </a:r>
            <a:r>
              <a:rPr lang="en-IN" sz="2000" dirty="0" err="1">
                <a:latin typeface="Calisto MT"/>
              </a:rPr>
              <a:t>i</a:t>
            </a:r>
            <a:r>
              <a:rPr lang="en-IN" sz="2000" dirty="0">
                <a:latin typeface="Calisto MT"/>
              </a:rPr>
              <a:t>) </a:t>
            </a:r>
            <a:r>
              <a:rPr lang="en-IN" sz="2000" dirty="0" err="1">
                <a:latin typeface="Calisto MT"/>
              </a:rPr>
              <a:t>EfficientNet</a:t>
            </a:r>
            <a:r>
              <a:rPr lang="en-IN" sz="2000" dirty="0">
                <a:latin typeface="Calisto MT"/>
              </a:rPr>
              <a:t> – B0 achieved 99.32% accuracy, likely due to aggressive fine – tuning.</a:t>
            </a:r>
          </a:p>
          <a:p>
            <a:pPr marL="0" indent="0">
              <a:buNone/>
            </a:pPr>
            <a:endParaRPr lang="en-IN" sz="2000" dirty="0">
              <a:latin typeface="Calisto MT"/>
            </a:endParaRPr>
          </a:p>
          <a:p>
            <a:pPr marL="0" indent="0">
              <a:buNone/>
            </a:pPr>
            <a:r>
              <a:rPr lang="en-IN" sz="2000" dirty="0">
                <a:latin typeface="Calisto MT"/>
              </a:rPr>
              <a:t>(ii) CNN – Transformer reached 94.11%, demonstrating stable convergence.</a:t>
            </a:r>
          </a:p>
          <a:p>
            <a:pPr marL="0" indent="0">
              <a:buNone/>
            </a:pPr>
            <a:endParaRPr lang="en-IN" sz="2000">
              <a:latin typeface="Calisto MT"/>
            </a:endParaRPr>
          </a:p>
          <a:p>
            <a:pPr marL="0" indent="0">
              <a:buNone/>
            </a:pPr>
            <a:r>
              <a:rPr lang="en-IN" sz="2000">
                <a:latin typeface="Calisto MT"/>
              </a:rPr>
              <a:t>(iii) Both models trained on ~82K images across 2 datasets and 6+ manipulation methods</a:t>
            </a:r>
          </a:p>
          <a:p>
            <a:pPr marL="0" indent="0">
              <a:buNone/>
            </a:pPr>
            <a:endParaRPr lang="en-IN" sz="2000">
              <a:latin typeface="Calisto MT"/>
            </a:endParaRPr>
          </a:p>
          <a:p>
            <a:pPr marL="0" indent="0">
              <a:buNone/>
            </a:pPr>
            <a:r>
              <a:rPr lang="en-IN" sz="2000">
                <a:latin typeface="Calisto MT"/>
              </a:rPr>
              <a:t>(iv) AMP (mixed precision) training reduced GPU memory usage and sped up training by ~30%</a:t>
            </a:r>
          </a:p>
          <a:p>
            <a:pPr marL="0" indent="0">
              <a:buNone/>
            </a:pPr>
            <a:endParaRPr lang="en-IN" sz="2000">
              <a:latin typeface="Calisto MT"/>
            </a:endParaRPr>
          </a:p>
          <a:p>
            <a:pPr marL="0" indent="0">
              <a:buNone/>
            </a:pPr>
            <a:r>
              <a:rPr lang="en-IN" sz="2000">
                <a:latin typeface="Calisto MT"/>
              </a:rPr>
              <a:t>(v) Cosine annealing LR scheduler improved transformer convergence compared to fixed LR.</a:t>
            </a:r>
          </a:p>
          <a:p>
            <a:pPr marL="0" indent="0">
              <a:buNone/>
            </a:pPr>
            <a:endParaRPr lang="en-IN" sz="2000">
              <a:latin typeface="Calisto MT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2B42F3-5FCB-EEE6-C894-247C28A8C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A60F6-7DB0-467E-96ED-BD436AB6B60E}" type="datetime1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45BBBC-65B1-22C1-1AFF-557BA79AF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/>
              <a:t>URP 4301 - Final Year Research Project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B99474-0190-12FF-9BB3-53198BC13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26</a:t>
            </a:fld>
            <a:endParaRPr lang="en-US" b="1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98094BF-0838-539F-56EE-A40ACF5E3A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0874250"/>
              </p:ext>
            </p:extLst>
          </p:nvPr>
        </p:nvGraphicFramePr>
        <p:xfrm>
          <a:off x="302712" y="1711890"/>
          <a:ext cx="1166740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1506">
                  <a:extLst>
                    <a:ext uri="{9D8B030D-6E8A-4147-A177-3AD203B41FA5}">
                      <a16:colId xmlns:a16="http://schemas.microsoft.com/office/drawing/2014/main" val="2640164587"/>
                    </a:ext>
                  </a:extLst>
                </a:gridCol>
                <a:gridCol w="2409264">
                  <a:extLst>
                    <a:ext uri="{9D8B030D-6E8A-4147-A177-3AD203B41FA5}">
                      <a16:colId xmlns:a16="http://schemas.microsoft.com/office/drawing/2014/main" val="467425823"/>
                    </a:ext>
                  </a:extLst>
                </a:gridCol>
                <a:gridCol w="2291458">
                  <a:extLst>
                    <a:ext uri="{9D8B030D-6E8A-4147-A177-3AD203B41FA5}">
                      <a16:colId xmlns:a16="http://schemas.microsoft.com/office/drawing/2014/main" val="3749268646"/>
                    </a:ext>
                  </a:extLst>
                </a:gridCol>
                <a:gridCol w="2095355">
                  <a:extLst>
                    <a:ext uri="{9D8B030D-6E8A-4147-A177-3AD203B41FA5}">
                      <a16:colId xmlns:a16="http://schemas.microsoft.com/office/drawing/2014/main" val="3907994842"/>
                    </a:ext>
                  </a:extLst>
                </a:gridCol>
                <a:gridCol w="1999825">
                  <a:extLst>
                    <a:ext uri="{9D8B030D-6E8A-4147-A177-3AD203B41FA5}">
                      <a16:colId xmlns:a16="http://schemas.microsoft.com/office/drawing/2014/main" val="18517242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Best Val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Best Test Accuracy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Training Speed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GPU Usage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11287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EfficientNet</a:t>
                      </a:r>
                      <a:r>
                        <a:rPr lang="en-US" dirty="0"/>
                        <a:t> - B0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99.32 %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96 %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Fast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Low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52494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CNN – Transformer Hybrid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94.11 %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86 %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Medium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76257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68097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4182D0-D960-A528-97C5-1950887CF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9F193-5B66-EBA0-F901-8044E52CA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Discussion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95DE999-CFE4-E7F0-47D1-466A242021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05435" indent="-305435">
              <a:buFont typeface="Wingdings,Sans-Serif"/>
              <a:buChar char="q"/>
            </a:pPr>
            <a:r>
              <a:rPr lang="en-IN" b="1"/>
              <a:t>Why EfficientNet-B0 Outperformed the Hybrid?</a:t>
            </a:r>
            <a:endParaRPr lang="en-US">
              <a:solidFill>
                <a:srgbClr val="000000"/>
              </a:solidFill>
            </a:endParaRPr>
          </a:p>
          <a:p>
            <a:pPr marL="305435" indent="-305435">
              <a:buFont typeface="Wingdings,Sans-Serif"/>
              <a:buChar char="q"/>
            </a:pPr>
            <a:endParaRPr lang="en-IN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IN" sz="2400">
                <a:latin typeface="Calisto MT"/>
              </a:rPr>
              <a:t>EfficientNet-B0 achieved 99.32% vs the hybrid's 94.11%. This is likely due to the CNN being fine-tuned with an aggressive unified LR (1e-4) on all parameters. CNNs also converge faster on face classification tasks when data is abundant (~82K images).</a:t>
            </a:r>
            <a:endParaRPr lang="en-IN" sz="2400">
              <a:solidFill>
                <a:srgbClr val="000000"/>
              </a:solidFill>
              <a:latin typeface="Calisto MT"/>
            </a:endParaRPr>
          </a:p>
          <a:p>
            <a:pPr marL="0" indent="0">
              <a:buNone/>
            </a:pPr>
            <a:endParaRPr lang="en-IN" sz="2400">
              <a:solidFill>
                <a:srgbClr val="000000"/>
              </a:solidFill>
            </a:endParaRPr>
          </a:p>
          <a:p>
            <a:pPr marL="305435" indent="-305435">
              <a:buFont typeface="Wingdings,Sans-Serif"/>
              <a:buChar char="q"/>
            </a:pPr>
            <a:r>
              <a:rPr lang="en-IN" b="1"/>
              <a:t>Transformer Needs More Tuning</a:t>
            </a:r>
            <a:endParaRPr lang="en-US">
              <a:solidFill>
                <a:srgbClr val="000000"/>
              </a:solidFill>
            </a:endParaRPr>
          </a:p>
          <a:p>
            <a:pPr marL="305435" indent="-305435">
              <a:buFont typeface="Wingdings,Sans-Serif"/>
              <a:buChar char="q"/>
            </a:pPr>
            <a:endParaRPr lang="en-IN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IN" sz="2400">
                <a:latin typeface="Calisto MT"/>
              </a:rPr>
              <a:t>The CNN-Transformer Hybrid's 94.11% is within expected range but underperformed relative to the pure CNN. Transformers typically require larger datasets, longer training, or </a:t>
            </a:r>
            <a:r>
              <a:rPr lang="en-IN" sz="2400" err="1">
                <a:latin typeface="Calisto MT"/>
              </a:rPr>
              <a:t>ViT</a:t>
            </a:r>
            <a:r>
              <a:rPr lang="en-IN" sz="2400">
                <a:latin typeface="Calisto MT"/>
              </a:rPr>
              <a:t>-style pretraining to surpass strong CNN baselines.</a:t>
            </a:r>
            <a:endParaRPr lang="en-IN" sz="2400">
              <a:solidFill>
                <a:srgbClr val="000000"/>
              </a:solidFill>
              <a:latin typeface="Calisto MT"/>
            </a:endParaRPr>
          </a:p>
          <a:p>
            <a:pPr marL="0" indent="0">
              <a:buNone/>
            </a:pPr>
            <a:endParaRPr lang="en-IN" sz="2400">
              <a:solidFill>
                <a:srgbClr val="000000"/>
              </a:solidFill>
            </a:endParaRPr>
          </a:p>
          <a:p>
            <a:pPr marL="305435" indent="-305435">
              <a:buFont typeface="Wingdings,Sans-Serif"/>
              <a:buChar char="q"/>
            </a:pPr>
            <a:r>
              <a:rPr lang="en-IN" b="1"/>
              <a:t>Suspected Overfitting in EfficientNet-B0</a:t>
            </a:r>
            <a:endParaRPr lang="en-US">
              <a:solidFill>
                <a:srgbClr val="000000"/>
              </a:solidFill>
            </a:endParaRPr>
          </a:p>
          <a:p>
            <a:pPr marL="0" indent="0">
              <a:buNone/>
            </a:pPr>
            <a:endParaRPr lang="en-IN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IN" sz="2400">
                <a:latin typeface="Calisto MT"/>
              </a:rPr>
              <a:t>A 99.32% validation accuracy may indicate overfitting to the training distribution —particularly since both datasets share similar GAN-based deepfake patterns. Real-world generalization may be lower on unseen manipulation methods.</a:t>
            </a:r>
            <a:endParaRPr lang="en-IN" sz="2400">
              <a:solidFill>
                <a:srgbClr val="000000"/>
              </a:solidFill>
              <a:latin typeface="Calisto MT"/>
            </a:endParaRPr>
          </a:p>
          <a:p>
            <a:pPr marL="305435" indent="-305435">
              <a:buFont typeface="Wingdings,Sans-Serif"/>
              <a:buChar char="q"/>
            </a:pPr>
            <a:endParaRPr lang="en-IN" sz="2400">
              <a:solidFill>
                <a:srgbClr val="000000"/>
              </a:solidFill>
            </a:endParaRPr>
          </a:p>
          <a:p>
            <a:pPr marL="0" indent="0">
              <a:buNone/>
            </a:pP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287BF-9547-5C29-E013-B0B8B7848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A60F6-7DB0-467E-96ED-BD436AB6B60E}" type="datetime1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FBDD99-C561-ADED-E7C8-2E8CE575A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/>
              <a:t>URP 4301 - Final Year Research Project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25D315-B629-4773-6EEE-804B58036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27</a:t>
            </a:fld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2468287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24720C-B8F4-1EC8-EC17-5841E15A2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9811A-A4EC-D5DC-5103-2B23AD4E2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Discussion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B3CAE52-5B13-D459-C707-49E22F34FF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05435" indent="-305435">
              <a:buFont typeface="Wingdings,Sans-Serif"/>
              <a:buChar char="q"/>
            </a:pPr>
            <a:r>
              <a:rPr lang="en-IN" b="1">
                <a:latin typeface="Calisto MT"/>
              </a:rPr>
              <a:t>Strengths of the Pipeline</a:t>
            </a:r>
            <a:endParaRPr lang="en-US">
              <a:solidFill>
                <a:srgbClr val="000000"/>
              </a:solidFill>
            </a:endParaRPr>
          </a:p>
          <a:p>
            <a:pPr marL="305435" indent="-305435">
              <a:buFont typeface="Wingdings,Sans-Serif"/>
              <a:buChar char="q"/>
            </a:pPr>
            <a:endParaRPr lang="en-IN" sz="240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IN" sz="2400">
                <a:latin typeface="Calisto MT"/>
              </a:rPr>
              <a:t>The system successfully combined two large benchmark datasets, applied robust augmentation(</a:t>
            </a:r>
            <a:r>
              <a:rPr lang="en-IN" sz="2400" err="1">
                <a:latin typeface="Calisto MT"/>
              </a:rPr>
              <a:t>RandAugment,ColorJitter</a:t>
            </a:r>
            <a:r>
              <a:rPr lang="en-IN" sz="2400">
                <a:latin typeface="Calisto MT"/>
              </a:rPr>
              <a:t>), and used AMP training for efficiency. The dual-model comparison provides valuable baseline and hybrid insights</a:t>
            </a:r>
            <a:r>
              <a:rPr lang="en-IN" sz="2400">
                <a:solidFill>
                  <a:srgbClr val="3D3D3D"/>
                </a:solidFill>
                <a:latin typeface="Calisto MT"/>
              </a:rPr>
              <a:t>.</a:t>
            </a:r>
            <a:endParaRPr lang="en-US" sz="2400">
              <a:solidFill>
                <a:srgbClr val="000000"/>
              </a:solidFill>
              <a:latin typeface="Calisto MT"/>
            </a:endParaRPr>
          </a:p>
          <a:p>
            <a:pPr marL="305435" indent="-305435">
              <a:buFont typeface="Wingdings,Sans-Serif"/>
              <a:buChar char="q"/>
            </a:pPr>
            <a:endParaRPr lang="en-IN" sz="2100">
              <a:solidFill>
                <a:srgbClr val="000000"/>
              </a:solidFill>
            </a:endParaRPr>
          </a:p>
          <a:p>
            <a:pPr marL="305435" indent="-305435">
              <a:buFont typeface="Wingdings,Sans-Serif"/>
              <a:buChar char="q"/>
            </a:pPr>
            <a:r>
              <a:rPr lang="en-IN" b="1">
                <a:latin typeface="Calisto MT"/>
              </a:rPr>
              <a:t>Limitations &amp; Future Work</a:t>
            </a:r>
            <a:endParaRPr lang="en-US">
              <a:solidFill>
                <a:srgbClr val="000000"/>
              </a:solidFill>
            </a:endParaRPr>
          </a:p>
          <a:p>
            <a:pPr marL="305435" indent="-305435">
              <a:buFont typeface="Wingdings,Sans-Serif"/>
              <a:buChar char="q"/>
            </a:pPr>
            <a:endParaRPr lang="en-IN" sz="210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IN" sz="2400">
                <a:latin typeface="Calisto MT"/>
              </a:rPr>
              <a:t>Future work includes:</a:t>
            </a:r>
            <a:endParaRPr lang="en-US" sz="2400">
              <a:solidFill>
                <a:srgbClr val="000000"/>
              </a:solidFill>
              <a:latin typeface="Calisto MT"/>
            </a:endParaRPr>
          </a:p>
          <a:p>
            <a:pPr marL="0" indent="0">
              <a:buNone/>
            </a:pPr>
            <a:r>
              <a:rPr lang="en-IN" sz="2400">
                <a:latin typeface="Calisto MT"/>
              </a:rPr>
              <a:t>(</a:t>
            </a:r>
            <a:r>
              <a:rPr lang="en-IN" sz="2400" err="1">
                <a:latin typeface="Calisto MT"/>
              </a:rPr>
              <a:t>i</a:t>
            </a:r>
            <a:r>
              <a:rPr lang="en-IN" sz="2400">
                <a:latin typeface="Calisto MT"/>
              </a:rPr>
              <a:t>) Testing on DFDC dataset for cross-dataset generalization. </a:t>
            </a:r>
            <a:endParaRPr lang="en-US" sz="2400">
              <a:solidFill>
                <a:srgbClr val="000000"/>
              </a:solidFill>
              <a:latin typeface="Calisto MT"/>
            </a:endParaRPr>
          </a:p>
          <a:p>
            <a:pPr marL="0" indent="0">
              <a:buNone/>
            </a:pPr>
            <a:r>
              <a:rPr lang="en-IN" sz="2400">
                <a:latin typeface="Calisto MT"/>
              </a:rPr>
              <a:t>(ii) Applying stronger transformer pretraining (e.g., </a:t>
            </a:r>
            <a:r>
              <a:rPr lang="en-IN" sz="2400" err="1">
                <a:latin typeface="Calisto MT"/>
              </a:rPr>
              <a:t>DeiT</a:t>
            </a:r>
            <a:r>
              <a:rPr lang="en-IN" sz="2400">
                <a:latin typeface="Calisto MT"/>
              </a:rPr>
              <a:t> or MAE). </a:t>
            </a:r>
            <a:endParaRPr lang="en-US" sz="240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IN" sz="2400">
                <a:solidFill>
                  <a:srgbClr val="3D3D3D"/>
                </a:solidFill>
              </a:rPr>
              <a:t>(iii) Adding explainability tools (Grad-CAM) </a:t>
            </a:r>
            <a:r>
              <a:rPr lang="en-IN" sz="2400">
                <a:latin typeface="Calisto MT"/>
              </a:rPr>
              <a:t>to visualize detected manipulation regions.</a:t>
            </a:r>
            <a:endParaRPr lang="en-IN" sz="2400">
              <a:solidFill>
                <a:srgbClr val="000000"/>
              </a:solidFill>
              <a:latin typeface="Calisto MT"/>
            </a:endParaRPr>
          </a:p>
          <a:p>
            <a:pPr marL="305435" indent="-305435">
              <a:buFont typeface="Wingdings,Sans-Serif"/>
              <a:buChar char="q"/>
            </a:pPr>
            <a:endParaRPr lang="en-IN" sz="3600">
              <a:solidFill>
                <a:srgbClr val="000000"/>
              </a:solidFill>
            </a:endParaRPr>
          </a:p>
          <a:p>
            <a:pPr marL="305435" indent="-305435">
              <a:buFont typeface="Wingdings,Sans-Serif"/>
              <a:buChar char="q"/>
            </a:pPr>
            <a:endParaRPr lang="en-IN" b="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E0C35C-6F6B-DC77-45B9-655A43FE8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A60F6-7DB0-467E-96ED-BD436AB6B60E}" type="datetime1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F4B2FB-291B-8944-BEAA-BC0031FAF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/>
              <a:t>URP 4301 - Final Year Research Project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B52FD0-38B6-2607-EE34-6FAFD5571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28</a:t>
            </a:fld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2415083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BCFD7-9AD0-9321-A6E2-12259B3BF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FC27DE-0366-D814-DA65-6A000B7AC8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330" y="967281"/>
            <a:ext cx="11745157" cy="555243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endParaRPr lang="en-IN" sz="2400" dirty="0">
              <a:latin typeface="Calisto MT"/>
            </a:endParaRPr>
          </a:p>
          <a:p>
            <a:pPr marL="0" indent="0" algn="just">
              <a:buNone/>
            </a:pPr>
            <a:r>
              <a:rPr lang="en-IN" sz="2400" dirty="0">
                <a:latin typeface="Calisto MT"/>
              </a:rPr>
              <a:t>1)K. </a:t>
            </a:r>
            <a:r>
              <a:rPr lang="en-IN" sz="2400" dirty="0" err="1">
                <a:latin typeface="Calisto MT"/>
              </a:rPr>
              <a:t>Soppari</a:t>
            </a:r>
            <a:r>
              <a:rPr lang="en-IN" sz="2400" dirty="0">
                <a:latin typeface="Calisto MT"/>
              </a:rPr>
              <a:t>, M. S. Thumnoori, S. </a:t>
            </a:r>
            <a:r>
              <a:rPr lang="en-IN" sz="2400" dirty="0" err="1">
                <a:latin typeface="Calisto MT"/>
              </a:rPr>
              <a:t>Gangalam</a:t>
            </a:r>
            <a:r>
              <a:rPr lang="en-IN" sz="2400" dirty="0">
                <a:latin typeface="Calisto MT"/>
              </a:rPr>
              <a:t>, and D. K. R. Bhatraju, “A survey on deep-fake detection algorithms,” Journal of Artificial Intelligence Research, June 2025. </a:t>
            </a:r>
            <a:endParaRPr lang="en-US"/>
          </a:p>
          <a:p>
            <a:pPr marL="457200" indent="-457200" algn="just">
              <a:buAutoNum type="arabicParenR"/>
            </a:pPr>
            <a:endParaRPr lang="en-IN" sz="2400">
              <a:latin typeface="Calisto MT"/>
            </a:endParaRPr>
          </a:p>
          <a:p>
            <a:pPr marL="0" indent="0" algn="just">
              <a:buNone/>
            </a:pPr>
            <a:r>
              <a:rPr lang="en-IN" sz="2400">
                <a:latin typeface="Calisto MT"/>
              </a:rPr>
              <a:t>2) M. Abhineswari, K. S. Charan, B. Shrikarti, and R. S. Kanmani, “Deep fake detection using transfer learning: A comparative study of multiple neural networks,” International Journal of Advanced Research in Computer Science, August 2024. </a:t>
            </a:r>
            <a:endParaRPr lang="en-US"/>
          </a:p>
          <a:p>
            <a:pPr marL="457200" indent="-457200" algn="just">
              <a:buAutoNum type="arabicParenR"/>
            </a:pPr>
            <a:endParaRPr lang="en-IN" sz="2400">
              <a:latin typeface="Calisto MT"/>
            </a:endParaRPr>
          </a:p>
          <a:p>
            <a:pPr marL="0" indent="0" algn="just">
              <a:buNone/>
            </a:pPr>
            <a:r>
              <a:rPr lang="en-IN" sz="2400">
                <a:latin typeface="Calisto MT"/>
              </a:rPr>
              <a:t>3) F. Bagherzadeh and R. Rastgoo, “Deepfake image detection using a deep hybrid </a:t>
            </a:r>
            <a:r>
              <a:rPr lang="en-IN" sz="2400" dirty="0">
                <a:latin typeface="Calisto MT"/>
              </a:rPr>
              <a:t>convolutional neural network,” Expert Systems with Applications, December 2023. </a:t>
            </a:r>
            <a:endParaRPr lang="en-US" dirty="0"/>
          </a:p>
          <a:p>
            <a:pPr marL="457200" indent="-457200" algn="just">
              <a:buAutoNum type="arabicParenR"/>
            </a:pPr>
            <a:endParaRPr lang="en-IN" sz="2400">
              <a:latin typeface="Calisto MT"/>
            </a:endParaRPr>
          </a:p>
          <a:p>
            <a:pPr marL="0" indent="0" algn="just">
              <a:buNone/>
            </a:pPr>
            <a:r>
              <a:rPr lang="en-IN" sz="2400" dirty="0">
                <a:latin typeface="Calisto MT"/>
              </a:rPr>
              <a:t>4) J. </a:t>
            </a:r>
            <a:r>
              <a:rPr lang="en-IN" sz="2400" dirty="0" err="1">
                <a:latin typeface="Calisto MT"/>
              </a:rPr>
              <a:t>Jheelan</a:t>
            </a:r>
            <a:r>
              <a:rPr lang="en-IN" sz="2400" dirty="0">
                <a:latin typeface="Calisto MT"/>
              </a:rPr>
              <a:t> and S. Pudaruth, “Using deep learning to identify deepfakes created using generative adversarial networks,” International Journal of Computer Applications, February 2025. </a:t>
            </a:r>
            <a:endParaRPr lang="en-US" dirty="0"/>
          </a:p>
          <a:p>
            <a:pPr marL="457200" indent="-457200" algn="just">
              <a:buAutoNum type="arabicParenR"/>
            </a:pPr>
            <a:endParaRPr lang="en-IN" sz="2400">
              <a:latin typeface="Calisto MT"/>
            </a:endParaRPr>
          </a:p>
          <a:p>
            <a:pPr marL="0" indent="0" algn="just">
              <a:buNone/>
            </a:pPr>
            <a:r>
              <a:rPr lang="en-IN" sz="2400">
                <a:latin typeface="Calisto MT"/>
              </a:rPr>
              <a:t>5) V. Patel, P. R. Swity, and K. Patel, “Deepfake detection through deep learning: A comprehensive review,” Journal of Deep Learning and Digital Forensics, January 2026. </a:t>
            </a:r>
            <a:endParaRPr lang="en-US"/>
          </a:p>
          <a:p>
            <a:pPr marL="457200" indent="-457200" algn="just">
              <a:buAutoNum type="arabicParenR"/>
            </a:pPr>
            <a:endParaRPr lang="en-IN" sz="2400">
              <a:latin typeface="Calisto MT"/>
            </a:endParaRPr>
          </a:p>
          <a:p>
            <a:pPr marL="457200" indent="-457200" algn="just">
              <a:buAutoNum type="arabicParenR"/>
            </a:pPr>
            <a:endParaRPr lang="en-IN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4C33D1-D10C-ED93-B410-203EAA027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A60F6-7DB0-467E-96ED-BD436AB6B60E}" type="datetime1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112933-667F-2E35-0EE6-9FA5B29BD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/>
              <a:t>URP 4301 - Final Year Research Project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65D270-2E29-6613-95DD-7E65CA1C5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29</a:t>
            </a:fld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32230513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6495BB-6BBC-9381-5D2D-730EF4412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E16B6-3C25-3116-71EA-CEBCBB057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6CC148-05D4-58A2-BD51-A4875DB971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577" y="967281"/>
            <a:ext cx="11745157" cy="555243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endParaRPr lang="en-IN" sz="2400" dirty="0"/>
          </a:p>
          <a:p>
            <a:pPr marL="0" indent="0" algn="just">
              <a:buNone/>
            </a:pPr>
            <a:r>
              <a:rPr lang="en-IN" sz="2400" dirty="0">
                <a:latin typeface="Calisto MT"/>
              </a:rPr>
              <a:t>6) U. </a:t>
            </a:r>
            <a:r>
              <a:rPr lang="en-IN" sz="2400" dirty="0" err="1">
                <a:latin typeface="Calisto MT"/>
              </a:rPr>
              <a:t>Kosarkar</a:t>
            </a:r>
            <a:r>
              <a:rPr lang="en-IN" sz="2400" dirty="0">
                <a:latin typeface="Calisto MT"/>
              </a:rPr>
              <a:t> and G. Sakarkar, “Design an efficient </a:t>
            </a:r>
            <a:r>
              <a:rPr lang="en-IN" sz="2400" dirty="0" err="1">
                <a:latin typeface="Calisto MT"/>
              </a:rPr>
              <a:t>varma</a:t>
            </a:r>
            <a:r>
              <a:rPr lang="en-IN" sz="2400" dirty="0">
                <a:latin typeface="Calisto MT"/>
              </a:rPr>
              <a:t> </a:t>
            </a:r>
            <a:r>
              <a:rPr lang="en-IN" sz="2400" dirty="0" err="1">
                <a:latin typeface="Calisto MT"/>
              </a:rPr>
              <a:t>lstm</a:t>
            </a:r>
            <a:r>
              <a:rPr lang="en-IN" sz="2400" dirty="0">
                <a:latin typeface="Calisto MT"/>
              </a:rPr>
              <a:t> </a:t>
            </a:r>
            <a:r>
              <a:rPr lang="en-IN" sz="2400" dirty="0" err="1">
                <a:latin typeface="Calisto MT"/>
              </a:rPr>
              <a:t>gru</a:t>
            </a:r>
            <a:r>
              <a:rPr lang="en-IN" sz="2400" dirty="0">
                <a:latin typeface="Calisto MT"/>
              </a:rPr>
              <a:t> model for identification of deep fake images via dynamic window-based </a:t>
            </a:r>
            <a:r>
              <a:rPr lang="en-IN" sz="2400" dirty="0" err="1">
                <a:latin typeface="Calisto MT"/>
              </a:rPr>
              <a:t>spatio</a:t>
            </a:r>
            <a:r>
              <a:rPr lang="en-IN" sz="2400" dirty="0">
                <a:latin typeface="Calisto MT"/>
              </a:rPr>
              <a:t>-temporal analysis,” International Journal of Intelli gent Systems, May 2024</a:t>
            </a:r>
            <a:endParaRPr lang="en-IN" sz="2400" dirty="0"/>
          </a:p>
          <a:p>
            <a:pPr marL="0" indent="0" algn="just">
              <a:buNone/>
            </a:pPr>
            <a:endParaRPr lang="en-IN" sz="2400" dirty="0">
              <a:latin typeface="Calisto MT"/>
            </a:endParaRPr>
          </a:p>
          <a:p>
            <a:pPr marL="0" indent="0" algn="just">
              <a:buNone/>
            </a:pPr>
            <a:r>
              <a:rPr lang="en-IN" sz="2400">
                <a:latin typeface="Calisto MT"/>
              </a:rPr>
              <a:t>7) Pravallika, </a:t>
            </a:r>
            <a:r>
              <a:rPr lang="en-IN" sz="2400" dirty="0">
                <a:latin typeface="Calisto MT"/>
              </a:rPr>
              <a:t>G. and Tejaswini, B. (2026), “Deep Fake Images and Videos Detection</a:t>
            </a:r>
            <a:endParaRPr lang="en-IN"/>
          </a:p>
          <a:p>
            <a:pPr marL="305435" indent="-305435" algn="just">
              <a:buNone/>
            </a:pPr>
            <a:r>
              <a:rPr lang="en-IN" sz="2400">
                <a:latin typeface="Calisto MT"/>
              </a:rPr>
              <a:t>Using Deep Learning”, International Journal of Digital Information Management.</a:t>
            </a:r>
            <a:endParaRPr lang="en-IN"/>
          </a:p>
          <a:p>
            <a:pPr marL="305435" indent="-305435" algn="just">
              <a:buNone/>
            </a:pPr>
            <a:endParaRPr lang="en-IN" sz="2400" dirty="0">
              <a:latin typeface="Calisto MT"/>
            </a:endParaRPr>
          </a:p>
          <a:p>
            <a:pPr marL="305435" indent="-305435" algn="just">
              <a:buNone/>
            </a:pPr>
            <a:r>
              <a:rPr lang="en-IN" sz="2400">
                <a:latin typeface="Calisto MT"/>
              </a:rPr>
              <a:t>8) Srinivasan, S., Nischitha, P., Mohana, and Chavan, A. (2025), “Deepfake Image</a:t>
            </a:r>
            <a:endParaRPr lang="en-IN"/>
          </a:p>
          <a:p>
            <a:pPr marL="305435" indent="-305435" algn="just">
              <a:buNone/>
            </a:pPr>
            <a:r>
              <a:rPr lang="en-IN" sz="2400">
                <a:latin typeface="Calisto MT"/>
              </a:rPr>
              <a:t>and Video Detection Using Deep Learning Algorithms”, IEEE Conference Proceedings.</a:t>
            </a:r>
            <a:endParaRPr lang="en-IN"/>
          </a:p>
          <a:p>
            <a:pPr marL="305435" indent="-305435" algn="just">
              <a:buNone/>
            </a:pPr>
            <a:endParaRPr lang="en-IN" sz="2400" dirty="0">
              <a:latin typeface="Calisto MT"/>
            </a:endParaRPr>
          </a:p>
          <a:p>
            <a:pPr marL="305435" indent="-305435" algn="just">
              <a:buNone/>
            </a:pPr>
            <a:r>
              <a:rPr lang="en-IN" sz="2400" dirty="0">
                <a:latin typeface="Calisto MT"/>
              </a:rPr>
              <a:t>9) </a:t>
            </a:r>
            <a:r>
              <a:rPr lang="en-IN" sz="2400" dirty="0" err="1">
                <a:latin typeface="Calisto MT"/>
              </a:rPr>
              <a:t>Ekatpure</a:t>
            </a:r>
            <a:r>
              <a:rPr lang="en-IN" sz="2400" dirty="0">
                <a:latin typeface="Calisto MT"/>
              </a:rPr>
              <a:t>, J. N., </a:t>
            </a:r>
            <a:r>
              <a:rPr lang="en-IN" sz="2400" dirty="0" err="1">
                <a:latin typeface="Calisto MT"/>
              </a:rPr>
              <a:t>Ingavale</a:t>
            </a:r>
            <a:r>
              <a:rPr lang="en-IN" sz="2400" dirty="0">
                <a:latin typeface="Calisto MT"/>
              </a:rPr>
              <a:t>, S. S., Jagtap, R. S., and </a:t>
            </a:r>
            <a:r>
              <a:rPr lang="en-IN" sz="2400" dirty="0" err="1">
                <a:latin typeface="Calisto MT"/>
              </a:rPr>
              <a:t>Jachak</a:t>
            </a:r>
            <a:r>
              <a:rPr lang="en-IN" sz="2400" dirty="0">
                <a:latin typeface="Calisto MT"/>
              </a:rPr>
              <a:t>, N. S. (2025), “Deep</a:t>
            </a:r>
            <a:endParaRPr lang="en-IN" dirty="0"/>
          </a:p>
          <a:p>
            <a:pPr marL="305435" indent="-305435" algn="just">
              <a:buNone/>
            </a:pPr>
            <a:r>
              <a:rPr lang="en-IN" sz="2400">
                <a:latin typeface="Calisto MT"/>
              </a:rPr>
              <a:t>Fake Detection Using Deep Learning: For Image and Video and Audio”, International</a:t>
            </a:r>
            <a:endParaRPr lang="en-IN"/>
          </a:p>
          <a:p>
            <a:pPr marL="305435" indent="-305435" algn="just">
              <a:buNone/>
            </a:pPr>
            <a:r>
              <a:rPr lang="en-IN" sz="2400">
                <a:latin typeface="Calisto MT"/>
              </a:rPr>
              <a:t>Journal on Advanced Computer Theory and Engineering, Vol. 14, Issue 1, pp. 693–696.</a:t>
            </a:r>
            <a:endParaRPr lang="en-IN"/>
          </a:p>
          <a:p>
            <a:pPr marL="305435" indent="-305435" algn="just">
              <a:buNone/>
            </a:pPr>
            <a:endParaRPr lang="en-IN" sz="2400" dirty="0">
              <a:latin typeface="Calisto MT"/>
            </a:endParaRPr>
          </a:p>
          <a:p>
            <a:pPr marL="305435" indent="-305435" algn="just">
              <a:buNone/>
            </a:pPr>
            <a:r>
              <a:rPr lang="en-IN" sz="2400">
                <a:latin typeface="Calisto MT"/>
              </a:rPr>
              <a:t>10) Deshpande, M., HL, S., and Mohammed Ibrahim, C. S. M. (2025), “Deep Fake</a:t>
            </a:r>
            <a:endParaRPr lang="en-IN"/>
          </a:p>
          <a:p>
            <a:pPr marL="305435" indent="-305435" algn="just">
              <a:buNone/>
            </a:pPr>
            <a:r>
              <a:rPr lang="en-IN" sz="2400">
                <a:latin typeface="Calisto MT"/>
              </a:rPr>
              <a:t>Detection in Images and Video”, ResearchGate Publication.</a:t>
            </a:r>
            <a:endParaRPr lang="en-IN"/>
          </a:p>
          <a:p>
            <a:pPr marL="0" indent="0" algn="just">
              <a:buNone/>
            </a:pPr>
            <a:endParaRPr lang="en-IN" sz="2400" dirty="0">
              <a:latin typeface="Calisto MT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E83950-0536-E974-D6E3-A20F9510B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A60F6-7DB0-467E-96ED-BD436AB6B60E}" type="datetime1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06CD33-1077-6164-2DB1-76063D91A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/>
              <a:t>URP 4301 - Final Year Research Project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F73423-32BD-0119-0280-A8ACEB14F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30</a:t>
            </a:fld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13426376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67F43B6-FEA3-5523-645D-FEC21B7D3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B088B-0B5C-41DF-A0DC-D07E0F442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09D73-6C67-49EE-ACA2-D71846FB9B23}" type="datetime1">
              <a:rPr lang="en-IN" smtClean="0"/>
              <a:t>31-05-2026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0C3D76-6985-425F-8101-B931A0AB3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F29264-98AF-4446-AC64-007FC86D5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B7573-0EEC-4F18-B4D8-B9624EC7F9C7}" type="slidenum">
              <a:rPr lang="en-IN" smtClean="0"/>
              <a:t>31</a:t>
            </a:fld>
            <a:endParaRPr lang="en-IN"/>
          </a:p>
        </p:txBody>
      </p:sp>
      <p:pic>
        <p:nvPicPr>
          <p:cNvPr id="20" name="Content Placeholder 19" descr="ANY QUESTIONS? brush calligraphy banner">
            <a:extLst>
              <a:ext uri="{FF2B5EF4-FFF2-40B4-BE49-F238E27FC236}">
                <a16:creationId xmlns:a16="http://schemas.microsoft.com/office/drawing/2014/main" id="{1531BDA0-0364-3764-A50E-131CE4E652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976120" y="1701165"/>
            <a:ext cx="8239759" cy="3089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81489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79F11E2-8BA5-4C5C-AE7C-361E5EA011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00E1DA-EC7C-40FC-95E3-11FDCD2E4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A421166-2996-41A7-B094-AE5316F34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DBB1B92-A3EB-43E4-8FAB-D20E8ED14C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F3972F4-FE7E-48EA-AAD8-9BE5750A6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21614E5-870B-4D5E-A43B-8FF7E53234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F87E73C-2B1A-4602-BFBE-CFE1E55D9B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96275" y="1419225"/>
            <a:ext cx="3081576" cy="2914649"/>
          </a:xfrm>
        </p:spPr>
        <p:txBody>
          <a:bodyPr>
            <a:normAutofit/>
          </a:bodyPr>
          <a:lstStyle/>
          <a:p>
            <a:pPr algn="ctr"/>
            <a:r>
              <a:rPr lang="en-US" sz="5400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CB511D-EA45-4336-847C-1252667143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96275" y="3505095"/>
            <a:ext cx="3081576" cy="2629006"/>
          </a:xfrm>
        </p:spPr>
        <p:txBody>
          <a:bodyPr>
            <a:normAutofit/>
          </a:bodyPr>
          <a:lstStyle/>
          <a:p>
            <a:endParaRPr lang="en-US">
              <a:solidFill>
                <a:schemeClr val="bg2"/>
              </a:solidFill>
            </a:endParaRPr>
          </a:p>
          <a:p>
            <a:endParaRPr lang="en-US">
              <a:solidFill>
                <a:schemeClr val="bg2"/>
              </a:solidFill>
            </a:endParaRPr>
          </a:p>
        </p:txBody>
      </p:sp>
      <p:pic>
        <p:nvPicPr>
          <p:cNvPr id="5" name="Picture 4" descr="Digital Numbers">
            <a:extLst>
              <a:ext uri="{FF2B5EF4-FFF2-40B4-BE49-F238E27FC236}">
                <a16:creationId xmlns:a16="http://schemas.microsoft.com/office/drawing/2014/main" id="{A21EA617-6D48-425F-97A8-7FEC82C8F40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189" r="9642" b="1"/>
          <a:stretch/>
        </p:blipFill>
        <p:spPr>
          <a:xfrm>
            <a:off x="446534" y="723899"/>
            <a:ext cx="7498616" cy="5676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34742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56390039_win32_fixed.potx" id="{08D75CB0-AD9B-4834-8559-901094BB0ABE}" vid="{3B3EDB20-B381-4B6C-99AC-7C5CDA2B40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42D3C2F-55A5-48C0-9D5A-95C7FF0389D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791575F-4C21-47C4-8D13-EB9BE66B536F}">
  <ds:schemaRefs>
    <ds:schemaRef ds:uri="230e9df3-be65-4c73-a93b-d1236ebd677e"/>
    <ds:schemaRef ds:uri="71af3243-3dd4-4a8d-8c0d-dd76da1f02a5"/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customXml/itemProps3.xml><?xml version="1.0" encoding="utf-8"?>
<ds:datastoreItem xmlns:ds="http://schemas.openxmlformats.org/officeDocument/2006/customXml" ds:itemID="{792209EB-3212-4116-B574-D1F56C7C4922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Tech design</Template>
  <TotalTime>0</TotalTime>
  <Words>3214</Words>
  <Application>Microsoft Office PowerPoint</Application>
  <PresentationFormat>Widescreen</PresentationFormat>
  <Paragraphs>534</Paragraphs>
  <Slides>32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3" baseType="lpstr">
      <vt:lpstr>Arial</vt:lpstr>
      <vt:lpstr>Arial Narrow</vt:lpstr>
      <vt:lpstr>Calibri</vt:lpstr>
      <vt:lpstr>Calisto MT</vt:lpstr>
      <vt:lpstr>Cambria</vt:lpstr>
      <vt:lpstr>Ebrima</vt:lpstr>
      <vt:lpstr>Gill Sans MT</vt:lpstr>
      <vt:lpstr>Wingdings</vt:lpstr>
      <vt:lpstr>Wingdings 2</vt:lpstr>
      <vt:lpstr>Wingdings,Sans-Serif</vt:lpstr>
      <vt:lpstr>Custom</vt:lpstr>
      <vt:lpstr>URP 4301 – Final Year Research Project</vt:lpstr>
      <vt:lpstr>Contents</vt:lpstr>
      <vt:lpstr>introduction</vt:lpstr>
      <vt:lpstr>Problem Statement</vt:lpstr>
      <vt:lpstr>Problem Statement</vt:lpstr>
      <vt:lpstr>Motivations</vt:lpstr>
      <vt:lpstr>Motivations</vt:lpstr>
      <vt:lpstr>Project Objectives</vt:lpstr>
      <vt:lpstr>Literature Review</vt:lpstr>
      <vt:lpstr>Research Gap &amp; Improvements</vt:lpstr>
      <vt:lpstr>Research Gap &amp; Improvements</vt:lpstr>
      <vt:lpstr>Proposed Solution &amp; Architecture</vt:lpstr>
      <vt:lpstr>Proposed Solution &amp; Architecture</vt:lpstr>
      <vt:lpstr>Dataset Description</vt:lpstr>
      <vt:lpstr>Dataset Description</vt:lpstr>
      <vt:lpstr>Data Preprocessing</vt:lpstr>
      <vt:lpstr>Data Preprocessing</vt:lpstr>
      <vt:lpstr>Exploratory Data Analysis (EDA)</vt:lpstr>
      <vt:lpstr>Model Selection</vt:lpstr>
      <vt:lpstr>Model Architecture </vt:lpstr>
      <vt:lpstr>Model Architecture </vt:lpstr>
      <vt:lpstr>Software Tools &amp; Platform information</vt:lpstr>
      <vt:lpstr>Software Tools &amp; Platform information</vt:lpstr>
      <vt:lpstr>Platform information</vt:lpstr>
      <vt:lpstr>Results</vt:lpstr>
      <vt:lpstr>results</vt:lpstr>
      <vt:lpstr>Discussion</vt:lpstr>
      <vt:lpstr>Discussion</vt:lpstr>
      <vt:lpstr>References</vt:lpstr>
      <vt:lpstr>References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Gyana Patra</dc:creator>
  <cp:lastModifiedBy>Sameera Kar</cp:lastModifiedBy>
  <cp:revision>135</cp:revision>
  <dcterms:created xsi:type="dcterms:W3CDTF">2026-02-04T09:45:50Z</dcterms:created>
  <dcterms:modified xsi:type="dcterms:W3CDTF">2026-05-31T04:17:16Z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